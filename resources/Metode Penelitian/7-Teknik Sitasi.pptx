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6"/>
  </p:notesMasterIdLst>
  <p:sldIdLst>
    <p:sldId id="256" r:id="rId2"/>
    <p:sldId id="278" r:id="rId3"/>
    <p:sldId id="279" r:id="rId4"/>
    <p:sldId id="283" r:id="rId5"/>
    <p:sldId id="280" r:id="rId6"/>
    <p:sldId id="281" r:id="rId7"/>
    <p:sldId id="282" r:id="rId8"/>
    <p:sldId id="285" r:id="rId9"/>
    <p:sldId id="287" r:id="rId10"/>
    <p:sldId id="288" r:id="rId11"/>
    <p:sldId id="289" r:id="rId12"/>
    <p:sldId id="290" r:id="rId13"/>
    <p:sldId id="284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277" r:id="rId24"/>
    <p:sldId id="26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87179" autoAdjust="0"/>
  </p:normalViewPr>
  <p:slideViewPr>
    <p:cSldViewPr snapToGrid="0">
      <p:cViewPr varScale="1">
        <p:scale>
          <a:sx n="58" d="100"/>
          <a:sy n="58" d="100"/>
        </p:scale>
        <p:origin x="8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BC5F08-C6E9-4A2B-8CD2-D3E72A12B5EC}" type="datetimeFigureOut">
              <a:rPr lang="en-US" smtClean="0"/>
              <a:t>10/19/2018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403E17-3D52-42BF-B042-CFFB0169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37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03E17-3D52-42BF-B042-CFFB01695A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983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03E17-3D52-42BF-B042-CFFB01695A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02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 smtClean="0"/>
              <a:t>Penjelasan</a:t>
            </a:r>
            <a:r>
              <a:rPr lang="en-ID" dirty="0" smtClean="0"/>
              <a:t/>
            </a:r>
            <a:br>
              <a:rPr lang="en-ID" dirty="0" smtClean="0"/>
            </a:br>
            <a:r>
              <a:rPr lang="en-ID" dirty="0" smtClean="0"/>
              <a:t>1.</a:t>
            </a:r>
            <a:r>
              <a:rPr lang="en-ID" baseline="0" dirty="0" smtClean="0"/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Penyitiran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dokemen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dilakukan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dengan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maksud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untuk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membantu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pengarang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dalam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mendapatkan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informasi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tambahan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guna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pemacahan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masalah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yang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diteliti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Dokumen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yang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disitir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sebaiknya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berasal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dari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topik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penelitian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yang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atau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yang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berhubungan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dengan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subjek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penelitian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sv-S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dasarnya, semua kalimat, ide atau hasil karya yang bukan karya sendiri harus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disebutkan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sumbernya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Peneliti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atau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penulis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akan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menyitir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suatu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dokumen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apabila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dokumen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tersebut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memberikan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informasi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atau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pengetahuan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baru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yang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bisa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bermanfaat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bagi</a:t>
            </a:r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penelitiannya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D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</a:t>
            </a:r>
            <a:r>
              <a:rPr lang="it-IT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 ini bisa dilihat dari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kemudahan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untuk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mendapatkan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dokumen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secara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kontinue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maupun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kemudahan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sv-SE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mengakses bila dilakukan melalui internet.  Sebagai contoh, makalah atau jurnal ilmiah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bisa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dijadikan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sebagai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sumber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sitiran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karena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makalah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atau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jurnal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ilmiah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tersebut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frekuensi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terbitnya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teratur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sehingga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bisa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dijadikan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sebagai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acuan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dalam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menyitir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03E17-3D52-42BF-B042-CFFB01695AA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85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03E17-3D52-42BF-B042-CFFB01695A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276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03E17-3D52-42BF-B042-CFFB01695A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72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Jenis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Kutipan</a:t>
            </a:r>
            <a:endParaRPr lang="en-US" sz="1200" b="1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</a:t>
            </a:r>
            <a:r>
              <a:rPr lang="en-US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Kutipan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tidak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langsung</a:t>
            </a:r>
            <a:endParaRPr lang="en-US" sz="1200" b="1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Kutipan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tidak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langsung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adalah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ide/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konsep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orang lain yang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dikutip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dengan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menggunakan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kata-kata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penulis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peneliti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sendiri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</a:t>
            </a:r>
            <a:r>
              <a:rPr lang="en-US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Kutipan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langsung</a:t>
            </a:r>
            <a:endParaRPr lang="en-US" sz="1200" b="1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Kutipan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langsung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adalah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ide/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konsep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orang lain yang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disalin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sesuai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dengan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aslinya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03E17-3D52-42BF-B042-CFFB01695AA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11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Jenis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Kutipan</a:t>
            </a:r>
            <a:endParaRPr lang="en-US" sz="1200" b="1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</a:t>
            </a:r>
            <a:r>
              <a:rPr lang="en-US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Kutipan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tidak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langsung</a:t>
            </a:r>
            <a:endParaRPr lang="en-US" sz="1200" b="1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Kutipan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tidak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langsung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adalah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ide/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konsep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orang lain yang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dikutip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dengan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menggunakan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kata-kata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penulis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peneliti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sendiri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</a:t>
            </a:r>
            <a:r>
              <a:rPr lang="en-US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Kutipan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langsung</a:t>
            </a:r>
            <a:endParaRPr lang="en-US" sz="1200" b="1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Kutipan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langsung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adalah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ide/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konsep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orang lain yang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disalin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sesuai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dengan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aslinya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03E17-3D52-42BF-B042-CFFB01695AA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12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BDAF7B60-6ED3-471C-A147-A43EE675897F}" type="datetime1">
              <a:rPr lang="en-US" smtClean="0"/>
              <a:t>10/19/2018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smtClean="0"/>
              <a:t>Metode Penelitian - STT Terpadu Nurul Fikri</a:t>
            </a: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6EE5FC0-1BC7-4FE8-A94F-15035432A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650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C1FE-826D-43D6-9C22-B66168224887}" type="datetime1">
              <a:rPr lang="en-US" smtClean="0"/>
              <a:t>10/19/2018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smtClean="0"/>
              <a:t>Metode Penelitian - STT Terpadu Nurul Fikri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33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3274B77-2797-4110-824F-D4633668F63B}" type="datetime1">
              <a:rPr lang="en-US" smtClean="0"/>
              <a:t>10/19/2018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r>
              <a:rPr lang="nb-NO" smtClean="0"/>
              <a:t>Metode Penelitian - STT Terpadu Nurul Fikri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6EE5FC0-1BC7-4FE8-A94F-15035432A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15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A6D69-BF48-4F82-861D-A1DBCC21B6CA}" type="datetime1">
              <a:rPr lang="en-US" smtClean="0"/>
              <a:t>10/19/2018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smtClean="0"/>
              <a:t>Metode Penelitian - STT Terpadu Nurul Fikri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07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66E02-20B1-4289-9E36-5EF4A89625AE}" type="datetime1">
              <a:rPr lang="en-US" smtClean="0"/>
              <a:t>10/19/2018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smtClean="0"/>
              <a:t>Metode Penelitian - STT Terpadu Nurul Fikri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0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924B-771A-4E87-B23F-B101423B90A9}" type="datetime1">
              <a:rPr lang="en-US" smtClean="0"/>
              <a:t>10/19/2018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smtClean="0"/>
              <a:t>Metode Penelitian - STT Terpadu Nurul Fikri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50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4ABE-3B08-4785-B462-2018F7883185}" type="datetime1">
              <a:rPr lang="en-US" smtClean="0"/>
              <a:t>10/19/2018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smtClean="0"/>
              <a:t>Metode Penelitian - STT Terpadu Nurul Fikri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90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EAC1-9747-46F5-8A9D-2A99123C04C1}" type="datetime1">
              <a:rPr lang="en-US" smtClean="0"/>
              <a:t>10/19/2018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nb-NO" smtClean="0"/>
              <a:t>Metode Penelitian - STT Terpadu Nurul Fikri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EE5FC0-1BC7-4FE8-A94F-15035432A68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93367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7EF578C8-387B-4566-A27C-4522FABCCE00}" type="datetime1">
              <a:rPr lang="en-US" smtClean="0"/>
              <a:t>10/19/2018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nb-NO" smtClean="0"/>
              <a:t>Metode Penelitian - STT Terpadu Nurul Fikri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EE5FC0-1BC7-4FE8-A94F-15035432A68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1189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F0DB4-D08A-4E51-B7E3-51D9684C1474}" type="datetime1">
              <a:rPr lang="en-US" smtClean="0"/>
              <a:t>10/19/2018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smtClean="0"/>
              <a:t>Metode Penelitian - STT Terpadu Nurul Fikri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6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E04F-C71E-4E48-9D39-CB9608510C3E}" type="datetime1">
              <a:rPr lang="en-US" smtClean="0"/>
              <a:t>10/19/2018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smtClean="0"/>
              <a:t>Metode Penelitian - STT Terpadu Nurul Fikri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50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808E1E1-56B2-445E-AC1D-757800E76AF8}" type="datetime1">
              <a:rPr lang="en-US" smtClean="0"/>
              <a:t>10/19/2018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nb-NO" smtClean="0"/>
              <a:t>Metode Penelitian - STT Terpadu Nurul Fikri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6EE5FC0-1BC7-4FE8-A94F-15035432A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95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library/en-us/comsrv2k/htm/cs_gs_concepts_ntqq.asp" TargetMode="External"/><Relationship Id="rId2" Type="http://schemas.openxmlformats.org/officeDocument/2006/relationships/hyperlink" Target="http://www.useit.com/papers/heuristic/heuristic_list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thewest.com.au/" TargetMode="External"/><Relationship Id="rId5" Type="http://schemas.openxmlformats.org/officeDocument/2006/relationships/hyperlink" Target="http://il.proquest.com/" TargetMode="External"/><Relationship Id="rId4" Type="http://schemas.openxmlformats.org/officeDocument/2006/relationships/hyperlink" Target="http://searchenginewatch.com/searchday/02/sd0402-teoma.html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vu.gatech.edu/user_surveys/survey-1997-10/" TargetMode="External"/><Relationship Id="rId2" Type="http://schemas.openxmlformats.org/officeDocument/2006/relationships/hyperlink" Target="http://www.dept.usm.edu/~eda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isbands.wordpress.com/2011/10/07/standard-penulisan-kutipan-dan-daftar-pustaka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1975650"/>
            <a:ext cx="9068586" cy="1650419"/>
          </a:xfrm>
        </p:spPr>
        <p:txBody>
          <a:bodyPr/>
          <a:lstStyle/>
          <a:p>
            <a:r>
              <a:rPr lang="en-ID" sz="6000" dirty="0" err="1" smtClean="0"/>
              <a:t>Teknik</a:t>
            </a:r>
            <a:r>
              <a:rPr lang="en-ID" sz="6000" dirty="0" smtClean="0"/>
              <a:t> </a:t>
            </a:r>
            <a:r>
              <a:rPr lang="en-ID" sz="6000" dirty="0" err="1" smtClean="0"/>
              <a:t>sitasi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9446" y="3899189"/>
            <a:ext cx="9070848" cy="457201"/>
          </a:xfrm>
        </p:spPr>
        <p:txBody>
          <a:bodyPr>
            <a:normAutofit/>
          </a:bodyPr>
          <a:lstStyle/>
          <a:p>
            <a:r>
              <a:rPr lang="en-ID" sz="2000" dirty="0" err="1" smtClean="0"/>
              <a:t>Metodologi</a:t>
            </a:r>
            <a:r>
              <a:rPr lang="en-ID" sz="2000" dirty="0" smtClean="0"/>
              <a:t> </a:t>
            </a:r>
            <a:r>
              <a:rPr lang="en-ID" sz="2000" dirty="0" err="1" smtClean="0"/>
              <a:t>Penelitian</a:t>
            </a:r>
            <a:endParaRPr lang="en-US" sz="20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559446" y="4629510"/>
            <a:ext cx="9070848" cy="457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 smtClean="0"/>
              <a:t>Yekti </a:t>
            </a:r>
            <a:r>
              <a:rPr lang="en-ID" dirty="0" err="1" smtClean="0"/>
              <a:t>Wirani</a:t>
            </a:r>
            <a:r>
              <a:rPr lang="en-ID" dirty="0" smtClean="0"/>
              <a:t>, ST, MTI</a:t>
            </a:r>
            <a:endParaRPr lang="en-US" dirty="0"/>
          </a:p>
        </p:txBody>
      </p:sp>
      <p:pic>
        <p:nvPicPr>
          <p:cNvPr id="7" name="image01.jp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98508" y="137871"/>
            <a:ext cx="1183754" cy="110234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079615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 smtClean="0"/>
              <a:t>Pengantar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661532"/>
            <a:ext cx="10058400" cy="4739268"/>
          </a:xfrm>
        </p:spPr>
        <p:txBody>
          <a:bodyPr>
            <a:normAutofit/>
          </a:bodyPr>
          <a:lstStyle/>
          <a:p>
            <a:r>
              <a:rPr lang="en-US" dirty="0" err="1"/>
              <a:t>Sitasi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asal-usul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kutipan</a:t>
            </a:r>
            <a:r>
              <a:rPr lang="en-US" dirty="0"/>
              <a:t>, </a:t>
            </a:r>
            <a:r>
              <a:rPr lang="en-US" dirty="0" err="1"/>
              <a:t>mengutip</a:t>
            </a:r>
            <a:r>
              <a:rPr lang="en-US" dirty="0"/>
              <a:t> </a:t>
            </a:r>
            <a:r>
              <a:rPr lang="en-US" dirty="0" err="1"/>
              <a:t>pernyataan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menyalin</a:t>
            </a:r>
            <a:r>
              <a:rPr lang="en-US" dirty="0"/>
              <a:t>/</a:t>
            </a:r>
            <a:r>
              <a:rPr lang="en-US" dirty="0" err="1"/>
              <a:t>mengulang</a:t>
            </a:r>
            <a:r>
              <a:rPr lang="en-US" dirty="0"/>
              <a:t> </a:t>
            </a:r>
            <a:r>
              <a:rPr lang="en-US" dirty="0" err="1"/>
              <a:t>pernyataan</a:t>
            </a:r>
            <a:r>
              <a:rPr lang="en-US" dirty="0"/>
              <a:t> </a:t>
            </a:r>
            <a:r>
              <a:rPr lang="en-US" dirty="0" err="1"/>
              <a:t>seseorang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mencantumkannya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karya</a:t>
            </a:r>
            <a:r>
              <a:rPr lang="en-US" dirty="0"/>
              <a:t> </a:t>
            </a:r>
            <a:r>
              <a:rPr lang="en-US" dirty="0" err="1"/>
              <a:t>tulis</a:t>
            </a:r>
            <a:r>
              <a:rPr lang="en-US" dirty="0"/>
              <a:t> yang </a:t>
            </a:r>
            <a:r>
              <a:rPr lang="en-US" dirty="0" err="1"/>
              <a:t>dibuat</a:t>
            </a:r>
            <a:r>
              <a:rPr lang="en-US" dirty="0"/>
              <a:t>, </a:t>
            </a:r>
            <a:r>
              <a:rPr lang="en-US" b="1" dirty="0" err="1"/>
              <a:t>namun</a:t>
            </a:r>
            <a:r>
              <a:rPr lang="en-US" b="1" dirty="0"/>
              <a:t> </a:t>
            </a:r>
            <a:r>
              <a:rPr lang="en-US" b="1" dirty="0" err="1"/>
              <a:t>tetap</a:t>
            </a:r>
            <a:r>
              <a:rPr lang="en-US" b="1" dirty="0"/>
              <a:t> </a:t>
            </a:r>
            <a:r>
              <a:rPr lang="en-US" b="1" dirty="0" err="1"/>
              <a:t>mengindikasikan</a:t>
            </a:r>
            <a:r>
              <a:rPr lang="en-US" b="1" dirty="0"/>
              <a:t> </a:t>
            </a:r>
            <a:r>
              <a:rPr lang="en-US" b="1" dirty="0" err="1"/>
              <a:t>bahwa</a:t>
            </a:r>
            <a:r>
              <a:rPr lang="en-US" b="1" dirty="0"/>
              <a:t> </a:t>
            </a:r>
            <a:r>
              <a:rPr lang="en-US" b="1" dirty="0" err="1"/>
              <a:t>kutipan</a:t>
            </a:r>
            <a:r>
              <a:rPr lang="en-US" b="1" dirty="0"/>
              <a:t> </a:t>
            </a:r>
            <a:r>
              <a:rPr lang="en-US" b="1" dirty="0" err="1"/>
              <a:t>tersebut</a:t>
            </a:r>
            <a:r>
              <a:rPr lang="en-US" b="1" dirty="0"/>
              <a:t> </a:t>
            </a:r>
            <a:r>
              <a:rPr lang="en-US" b="1" dirty="0" err="1"/>
              <a:t>itu</a:t>
            </a:r>
            <a:r>
              <a:rPr lang="en-US" b="1" dirty="0"/>
              <a:t> </a:t>
            </a:r>
            <a:r>
              <a:rPr lang="en-US" b="1" dirty="0" err="1"/>
              <a:t>adalah</a:t>
            </a:r>
            <a:r>
              <a:rPr lang="en-US" b="1" dirty="0"/>
              <a:t> </a:t>
            </a:r>
            <a:r>
              <a:rPr lang="en-US" b="1" dirty="0" err="1"/>
              <a:t>pernyataan</a:t>
            </a:r>
            <a:r>
              <a:rPr lang="en-US" b="1" dirty="0"/>
              <a:t> orang </a:t>
            </a:r>
            <a:r>
              <a:rPr lang="en-US" b="1" dirty="0" smtClean="0"/>
              <a:t>lain</a:t>
            </a:r>
          </a:p>
          <a:p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penulisan</a:t>
            </a:r>
            <a:r>
              <a:rPr lang="en-US" dirty="0"/>
              <a:t> </a:t>
            </a:r>
            <a:r>
              <a:rPr lang="en-US" dirty="0" err="1"/>
              <a:t>ilmiah</a:t>
            </a:r>
            <a:r>
              <a:rPr lang="en-US" dirty="0"/>
              <a:t>, </a:t>
            </a:r>
            <a:r>
              <a:rPr lang="en-US" dirty="0" err="1"/>
              <a:t>penulis</a:t>
            </a:r>
            <a:r>
              <a:rPr lang="en-US" dirty="0"/>
              <a:t> </a:t>
            </a:r>
            <a:r>
              <a:rPr lang="en-US" dirty="0" err="1"/>
              <a:t>memerlukan</a:t>
            </a:r>
            <a:r>
              <a:rPr lang="en-US" dirty="0"/>
              <a:t> </a:t>
            </a:r>
            <a:r>
              <a:rPr lang="en-US" dirty="0" err="1"/>
              <a:t>bahan</a:t>
            </a:r>
            <a:r>
              <a:rPr lang="en-US" dirty="0"/>
              <a:t> </a:t>
            </a:r>
            <a:r>
              <a:rPr lang="en-US" dirty="0" err="1"/>
              <a:t>pustaka</a:t>
            </a:r>
            <a:r>
              <a:rPr lang="en-US" dirty="0"/>
              <a:t> </a:t>
            </a:r>
            <a:r>
              <a:rPr lang="en-US" i="1" dirty="0"/>
              <a:t>(</a:t>
            </a:r>
            <a:r>
              <a:rPr lang="en-US" i="1" dirty="0" err="1"/>
              <a:t>literatur</a:t>
            </a:r>
            <a:r>
              <a:rPr lang="en-US" i="1" dirty="0"/>
              <a:t> review)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mendukung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tulisannya</a:t>
            </a:r>
            <a:r>
              <a:rPr lang="en-US" dirty="0" smtClean="0"/>
              <a:t>.</a:t>
            </a:r>
          </a:p>
          <a:p>
            <a:pPr>
              <a:spcBef>
                <a:spcPts val="200"/>
              </a:spcBef>
            </a:pPr>
            <a:r>
              <a:rPr lang="en-US" dirty="0" err="1" smtClean="0"/>
              <a:t>Kegunaan</a:t>
            </a:r>
            <a:r>
              <a:rPr lang="en-US" dirty="0" smtClean="0"/>
              <a:t> </a:t>
            </a:r>
            <a:r>
              <a:rPr lang="en-US" dirty="0" err="1"/>
              <a:t>bahan</a:t>
            </a:r>
            <a:r>
              <a:rPr lang="en-US" dirty="0"/>
              <a:t> </a:t>
            </a:r>
            <a:r>
              <a:rPr lang="en-US" dirty="0" err="1" smtClean="0"/>
              <a:t>pustaka</a:t>
            </a:r>
            <a:r>
              <a:rPr lang="en-US" dirty="0" smtClean="0"/>
              <a:t> </a:t>
            </a:r>
            <a:r>
              <a:rPr lang="en-US" dirty="0" err="1"/>
              <a:t>pendukung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lain </a:t>
            </a:r>
            <a:r>
              <a:rPr lang="en-US" dirty="0" err="1" smtClean="0"/>
              <a:t>untuk</a:t>
            </a:r>
            <a:r>
              <a:rPr lang="en-US" dirty="0" smtClean="0"/>
              <a:t>:</a:t>
            </a:r>
          </a:p>
          <a:p>
            <a:pPr marL="446088" indent="-268288">
              <a:spcBef>
                <a:spcPts val="200"/>
              </a:spcBef>
              <a:buFont typeface="+mj-lt"/>
              <a:buAutoNum type="arabicPeriod"/>
            </a:pPr>
            <a:r>
              <a:rPr lang="en-US" dirty="0" err="1" smtClean="0"/>
              <a:t>menunjukkan</a:t>
            </a:r>
            <a:r>
              <a:rPr lang="en-US" dirty="0" smtClean="0"/>
              <a:t> </a:t>
            </a:r>
            <a:r>
              <a:rPr lang="en-US" dirty="0" err="1" smtClean="0"/>
              <a:t>adanya</a:t>
            </a:r>
            <a:r>
              <a:rPr lang="en-US" dirty="0" smtClean="0"/>
              <a:t> </a:t>
            </a:r>
            <a:r>
              <a:rPr lang="en-US" dirty="0" err="1" smtClean="0"/>
              <a:t>kebijakan</a:t>
            </a:r>
            <a:r>
              <a:rPr lang="en-US" dirty="0" smtClean="0"/>
              <a:t> </a:t>
            </a:r>
            <a:r>
              <a:rPr lang="en-US" dirty="0"/>
              <a:t>di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kajiannya</a:t>
            </a:r>
            <a:r>
              <a:rPr lang="en-US" dirty="0"/>
              <a:t>, </a:t>
            </a:r>
            <a:endParaRPr lang="en-US" dirty="0" smtClean="0"/>
          </a:p>
          <a:p>
            <a:pPr marL="446088" indent="-268288">
              <a:spcBef>
                <a:spcPts val="200"/>
              </a:spcBef>
              <a:buFont typeface="+mj-lt"/>
              <a:buAutoNum type="arabicPeriod"/>
            </a:pPr>
            <a:r>
              <a:rPr lang="en-US" dirty="0" err="1" smtClean="0"/>
              <a:t>menerangkan</a:t>
            </a:r>
            <a:r>
              <a:rPr lang="en-US" dirty="0" smtClean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teori</a:t>
            </a:r>
            <a:r>
              <a:rPr lang="en-US" dirty="0"/>
              <a:t>, </a:t>
            </a:r>
            <a:r>
              <a:rPr lang="en-US" dirty="0" err="1"/>
              <a:t>pengertian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definisi</a:t>
            </a:r>
            <a:r>
              <a:rPr lang="en-US" dirty="0" smtClean="0"/>
              <a:t>,</a:t>
            </a:r>
          </a:p>
          <a:p>
            <a:pPr marL="446088" indent="-268288">
              <a:spcBef>
                <a:spcPts val="200"/>
              </a:spcBef>
              <a:buFont typeface="+mj-lt"/>
              <a:buAutoNum type="arabicPeriod"/>
            </a:pPr>
            <a:r>
              <a:rPr lang="en-US" dirty="0" err="1" smtClean="0"/>
              <a:t>memperlihatkan</a:t>
            </a:r>
            <a:r>
              <a:rPr lang="en-US" dirty="0" smtClean="0"/>
              <a:t>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temuan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ilmuwan</a:t>
            </a:r>
            <a:r>
              <a:rPr lang="en-US" dirty="0"/>
              <a:t> lain, </a:t>
            </a:r>
          </a:p>
          <a:p>
            <a:pPr marL="446088" indent="-268288">
              <a:spcBef>
                <a:spcPts val="200"/>
              </a:spcBef>
              <a:buFont typeface="+mj-lt"/>
              <a:buAutoNum type="arabicPeriod"/>
            </a:pPr>
            <a:r>
              <a:rPr lang="en-US" dirty="0" err="1" smtClean="0"/>
              <a:t>memperkuat</a:t>
            </a:r>
            <a:r>
              <a:rPr lang="en-US" dirty="0" smtClean="0"/>
              <a:t> </a:t>
            </a:r>
            <a:r>
              <a:rPr lang="en-US" dirty="0" err="1" smtClean="0"/>
              <a:t>temuannya</a:t>
            </a:r>
            <a:r>
              <a:rPr lang="en-US" dirty="0" smtClean="0"/>
              <a:t>, </a:t>
            </a:r>
            <a:endParaRPr lang="en-US" dirty="0"/>
          </a:p>
          <a:p>
            <a:pPr marL="446088" indent="-268288">
              <a:spcBef>
                <a:spcPts val="200"/>
              </a:spcBef>
              <a:buFont typeface="+mj-lt"/>
              <a:buAutoNum type="arabicPeriod"/>
            </a:pPr>
            <a:r>
              <a:rPr lang="en-US" dirty="0" err="1" smtClean="0"/>
              <a:t>memanfaatkan</a:t>
            </a:r>
            <a:r>
              <a:rPr lang="en-US" dirty="0" smtClean="0"/>
              <a:t> </a:t>
            </a:r>
            <a:r>
              <a:rPr lang="en-US" dirty="0" err="1"/>
              <a:t>metode</a:t>
            </a:r>
            <a:r>
              <a:rPr lang="en-US" dirty="0"/>
              <a:t>, </a:t>
            </a:r>
            <a:endParaRPr lang="en-US" dirty="0" smtClean="0"/>
          </a:p>
          <a:p>
            <a:pPr marL="446088" indent="-268288">
              <a:spcBef>
                <a:spcPts val="200"/>
              </a:spcBef>
              <a:buFont typeface="+mj-lt"/>
              <a:buAutoNum type="arabicPeriod"/>
            </a:pPr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/>
              <a:t>pembanding</a:t>
            </a:r>
            <a:r>
              <a:rPr lang="en-US" dirty="0"/>
              <a:t>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bahan</a:t>
            </a:r>
            <a:r>
              <a:rPr lang="en-US" dirty="0"/>
              <a:t> </a:t>
            </a:r>
            <a:r>
              <a:rPr lang="en-US" dirty="0" err="1"/>
              <a:t>pustaka</a:t>
            </a:r>
            <a:r>
              <a:rPr lang="en-US" dirty="0"/>
              <a:t> </a:t>
            </a:r>
            <a:r>
              <a:rPr lang="en-US" dirty="0" smtClean="0"/>
              <a:t>yang </a:t>
            </a:r>
            <a:r>
              <a:rPr lang="en-US" dirty="0" err="1" smtClean="0"/>
              <a:t>direview</a:t>
            </a:r>
            <a:r>
              <a:rPr lang="en-US" dirty="0" smtClean="0"/>
              <a:t> </a:t>
            </a:r>
            <a:r>
              <a:rPr lang="en-US" dirty="0" err="1"/>
              <a:t>memperlihatkan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pendapat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 smtClean="0"/>
              <a:t>ilmuwan</a:t>
            </a:r>
            <a:endParaRPr lang="en-US" dirty="0" smtClean="0"/>
          </a:p>
          <a:p>
            <a:pPr marL="446088" indent="-268288">
              <a:spcBef>
                <a:spcPts val="200"/>
              </a:spcBef>
              <a:buFont typeface="+mj-lt"/>
              <a:buAutoNum type="arabicPeriod"/>
            </a:pPr>
            <a:r>
              <a:rPr lang="en-US" dirty="0" err="1" smtClean="0"/>
              <a:t>memperkuat</a:t>
            </a:r>
            <a:r>
              <a:rPr lang="en-US" dirty="0" smtClean="0"/>
              <a:t> </a:t>
            </a:r>
            <a:r>
              <a:rPr lang="en-US" dirty="0" err="1"/>
              <a:t>kesahihan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yang </a:t>
            </a:r>
            <a:r>
              <a:rPr lang="en-US" dirty="0" err="1"/>
              <a:t>dilakukan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28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 err="1" smtClean="0"/>
              <a:t>Alasan</a:t>
            </a:r>
            <a:r>
              <a:rPr lang="en-ID" dirty="0" smtClean="0"/>
              <a:t> </a:t>
            </a:r>
            <a:r>
              <a:rPr lang="en-ID" dirty="0" err="1" smtClean="0"/>
              <a:t>pemilihan</a:t>
            </a:r>
            <a:r>
              <a:rPr lang="en-ID" dirty="0" smtClean="0"/>
              <a:t> </a:t>
            </a:r>
            <a:r>
              <a:rPr lang="en-ID" dirty="0" err="1" smtClean="0"/>
              <a:t>dokumen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Suatu dokumen akan disitir oleh penulis </a:t>
            </a:r>
            <a:r>
              <a:rPr lang="sv-SE" dirty="0" smtClean="0"/>
              <a:t>apabila:</a:t>
            </a:r>
          </a:p>
          <a:p>
            <a:pPr marL="623888" indent="-266700">
              <a:buFont typeface="+mj-lt"/>
              <a:buAutoNum type="arabicPeriod"/>
            </a:pPr>
            <a:r>
              <a:rPr lang="sv-SE" dirty="0" smtClean="0"/>
              <a:t>Dokumen </a:t>
            </a:r>
            <a:r>
              <a:rPr lang="sv-SE" dirty="0"/>
              <a:t>tersebut relevan </a:t>
            </a:r>
            <a:r>
              <a:rPr lang="sv-SE" dirty="0" smtClean="0"/>
              <a:t>dengan kegiatan penulisan </a:t>
            </a:r>
            <a:r>
              <a:rPr lang="sv-SE" dirty="0"/>
              <a:t>karya ilmiah yang </a:t>
            </a:r>
            <a:r>
              <a:rPr lang="sv-SE" dirty="0" smtClean="0"/>
              <a:t>dilakukannya</a:t>
            </a:r>
          </a:p>
          <a:p>
            <a:pPr marL="623888" indent="-266700">
              <a:buFont typeface="+mj-lt"/>
              <a:buAutoNum type="arabicPeriod"/>
            </a:pPr>
            <a:r>
              <a:rPr lang="sv-SE" dirty="0"/>
              <a:t>K</a:t>
            </a:r>
            <a:r>
              <a:rPr lang="en-US" dirty="0" err="1" smtClean="0"/>
              <a:t>esesuaian</a:t>
            </a:r>
            <a:r>
              <a:rPr lang="en-US" dirty="0" smtClean="0"/>
              <a:t> </a:t>
            </a:r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 smtClean="0"/>
              <a:t>dengan</a:t>
            </a:r>
            <a:r>
              <a:rPr lang="en-US" dirty="0"/>
              <a:t> </a:t>
            </a:r>
            <a:r>
              <a:rPr lang="en-US" dirty="0" err="1" smtClean="0"/>
              <a:t>penelitian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juga yang </a:t>
            </a:r>
            <a:r>
              <a:rPr lang="en-US" dirty="0" err="1"/>
              <a:t>menyitir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dokumen</a:t>
            </a:r>
            <a:r>
              <a:rPr lang="en-US" dirty="0"/>
              <a:t> yang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 smtClean="0"/>
              <a:t>topik</a:t>
            </a:r>
            <a:r>
              <a:rPr lang="en-US" dirty="0"/>
              <a:t> </a:t>
            </a:r>
            <a:r>
              <a:rPr lang="en-US" dirty="0" err="1" smtClean="0"/>
              <a:t>penelitian</a:t>
            </a:r>
            <a:r>
              <a:rPr lang="en-US" dirty="0" smtClean="0"/>
              <a:t> </a:t>
            </a:r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analisa</a:t>
            </a:r>
            <a:r>
              <a:rPr lang="en-US" dirty="0"/>
              <a:t> </a:t>
            </a:r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analisa</a:t>
            </a:r>
            <a:r>
              <a:rPr lang="en-US" dirty="0"/>
              <a:t> data </a:t>
            </a:r>
            <a:r>
              <a:rPr lang="en-US" dirty="0" err="1"/>
              <a:t>lainnya</a:t>
            </a:r>
            <a:r>
              <a:rPr lang="en-US" dirty="0"/>
              <a:t> </a:t>
            </a:r>
            <a:r>
              <a:rPr lang="en-US" dirty="0" smtClean="0"/>
              <a:t>yang </a:t>
            </a:r>
            <a:r>
              <a:rPr lang="sv-SE" dirty="0" smtClean="0"/>
              <a:t>mungkin </a:t>
            </a:r>
            <a:r>
              <a:rPr lang="sv-SE" dirty="0"/>
              <a:t>bisa digunakan pada penelitian yang sedang dilakukan</a:t>
            </a:r>
            <a:endParaRPr lang="sv-SE" dirty="0" smtClean="0"/>
          </a:p>
          <a:p>
            <a:pPr marL="623888" indent="-266700">
              <a:buFont typeface="+mj-lt"/>
              <a:buAutoNum type="arabicPeriod"/>
            </a:pPr>
            <a:r>
              <a:rPr lang="en-US" dirty="0" err="1"/>
              <a:t>Kemudahan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dokumen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 smtClean="0"/>
              <a:t>direview</a:t>
            </a:r>
            <a:endParaRPr lang="en-US" dirty="0" smtClean="0"/>
          </a:p>
          <a:p>
            <a:pPr marL="623888" indent="-266700">
              <a:buFont typeface="+mj-lt"/>
              <a:buAutoNum type="arabicPeriod"/>
            </a:pP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err="1"/>
              <a:t>penerbitan</a:t>
            </a:r>
            <a:r>
              <a:rPr lang="en-US" dirty="0"/>
              <a:t> </a:t>
            </a:r>
            <a:r>
              <a:rPr lang="en-US" dirty="0" err="1"/>
              <a:t>dokumen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64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 smtClean="0"/>
              <a:t>Daftar</a:t>
            </a:r>
            <a:r>
              <a:rPr lang="en-ID" dirty="0" smtClean="0"/>
              <a:t> </a:t>
            </a:r>
            <a:r>
              <a:rPr lang="en-ID" dirty="0" err="1" smtClean="0"/>
              <a:t>Pustaka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penyitiran</a:t>
            </a:r>
            <a:r>
              <a:rPr lang="en-US" dirty="0"/>
              <a:t> </a:t>
            </a: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peneliti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penulis</a:t>
            </a:r>
            <a:r>
              <a:rPr lang="en-US" dirty="0"/>
              <a:t> </a:t>
            </a:r>
            <a:r>
              <a:rPr lang="en-US" dirty="0" err="1"/>
              <a:t>ilmiah</a:t>
            </a:r>
            <a:r>
              <a:rPr lang="en-US" dirty="0"/>
              <a:t> </a:t>
            </a:r>
            <a:r>
              <a:rPr lang="en-US" dirty="0" err="1"/>
              <a:t>wajib</a:t>
            </a:r>
            <a:r>
              <a:rPr lang="en-US" dirty="0"/>
              <a:t> </a:t>
            </a:r>
            <a:r>
              <a:rPr lang="en-US" dirty="0" err="1" smtClean="0"/>
              <a:t>mencantumkan</a:t>
            </a:r>
            <a:r>
              <a:rPr lang="en-US" dirty="0"/>
              <a:t> </a:t>
            </a:r>
            <a:r>
              <a:rPr lang="sv-SE" dirty="0" smtClean="0"/>
              <a:t>nama </a:t>
            </a:r>
            <a:r>
              <a:rPr lang="sv-SE" dirty="0"/>
              <a:t>pengarang yang pernyataannya dikutip atau disitir di </a:t>
            </a:r>
            <a:r>
              <a:rPr lang="sv-SE" dirty="0" smtClean="0"/>
              <a:t>dalam </a:t>
            </a:r>
            <a:r>
              <a:rPr lang="en-US" dirty="0" err="1" smtClean="0"/>
              <a:t>artikel</a:t>
            </a:r>
            <a:r>
              <a:rPr lang="en-US" dirty="0" smtClean="0"/>
              <a:t>/</a:t>
            </a:r>
            <a:r>
              <a:rPr lang="en-US" dirty="0" err="1" smtClean="0"/>
              <a:t>makalah</a:t>
            </a:r>
            <a:r>
              <a:rPr lang="en-US" dirty="0" smtClean="0"/>
              <a:t>/</a:t>
            </a:r>
            <a:r>
              <a:rPr lang="en-US" dirty="0" err="1" smtClean="0"/>
              <a:t>laporan</a:t>
            </a:r>
            <a:r>
              <a:rPr lang="en-US" dirty="0" smtClean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. </a:t>
            </a:r>
            <a:r>
              <a:rPr lang="en-US" dirty="0" err="1"/>
              <a:t>Kewajiban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memperlihatkan</a:t>
            </a:r>
            <a:endParaRPr lang="en-US" dirty="0"/>
          </a:p>
          <a:p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sesungguhnya</a:t>
            </a:r>
            <a:r>
              <a:rPr lang="en-US" dirty="0"/>
              <a:t> </a:t>
            </a:r>
            <a:r>
              <a:rPr lang="en-US" dirty="0" err="1"/>
              <a:t>peneliti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 smtClean="0"/>
              <a:t>telah</a:t>
            </a:r>
            <a:r>
              <a:rPr lang="en-US" dirty="0" smtClean="0"/>
              <a:t> </a:t>
            </a:r>
            <a:r>
              <a:rPr lang="en-US" dirty="0" err="1"/>
              <a:t>menelaah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, </a:t>
            </a:r>
            <a:r>
              <a:rPr lang="en-US" dirty="0" err="1" smtClean="0"/>
              <a:t>penelitian-penelitian</a:t>
            </a:r>
            <a:r>
              <a:rPr lang="en-US" dirty="0"/>
              <a:t> </a:t>
            </a:r>
            <a:r>
              <a:rPr lang="en-US" dirty="0" err="1" smtClean="0"/>
              <a:t>setopik</a:t>
            </a:r>
            <a:r>
              <a:rPr lang="en-US" dirty="0" smtClean="0"/>
              <a:t> </a:t>
            </a:r>
            <a:r>
              <a:rPr lang="en-US" dirty="0"/>
              <a:t>yang </a:t>
            </a:r>
            <a:r>
              <a:rPr lang="en-US" dirty="0" err="1"/>
              <a:t>pernah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orang lain,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 smtClean="0"/>
              <a:t>jujur</a:t>
            </a:r>
            <a:r>
              <a:rPr lang="en-US" dirty="0"/>
              <a:t> </a:t>
            </a:r>
            <a:r>
              <a:rPr lang="en-US" dirty="0" err="1" smtClean="0"/>
              <a:t>mencantumkan</a:t>
            </a:r>
            <a:r>
              <a:rPr lang="en-US" dirty="0" smtClean="0"/>
              <a:t> </a:t>
            </a:r>
            <a:r>
              <a:rPr lang="en-US" dirty="0" err="1"/>
              <a:t>bahan</a:t>
            </a:r>
            <a:r>
              <a:rPr lang="en-US" dirty="0"/>
              <a:t> </a:t>
            </a:r>
            <a:r>
              <a:rPr lang="en-US" dirty="0" err="1"/>
              <a:t>pustaka</a:t>
            </a:r>
            <a:r>
              <a:rPr lang="en-US" dirty="0"/>
              <a:t> yang </a:t>
            </a:r>
            <a:r>
              <a:rPr lang="en-US" dirty="0" err="1"/>
              <a:t>dikutipnya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err="1"/>
              <a:t>Menulis</a:t>
            </a:r>
            <a:r>
              <a:rPr lang="en-US" dirty="0"/>
              <a:t> </a:t>
            </a:r>
            <a:r>
              <a:rPr lang="en-US" dirty="0" err="1"/>
              <a:t>daftar</a:t>
            </a:r>
            <a:r>
              <a:rPr lang="en-US" dirty="0"/>
              <a:t> </a:t>
            </a:r>
            <a:r>
              <a:rPr lang="en-US" dirty="0" err="1"/>
              <a:t>pustaka</a:t>
            </a:r>
            <a:r>
              <a:rPr lang="en-US" dirty="0"/>
              <a:t> (</a:t>
            </a:r>
            <a:r>
              <a:rPr lang="en-US" dirty="0" err="1"/>
              <a:t>bibliografi</a:t>
            </a:r>
            <a:r>
              <a:rPr lang="en-US" dirty="0"/>
              <a:t>) </a:t>
            </a:r>
            <a:r>
              <a:rPr lang="en-US" dirty="0" err="1"/>
              <a:t>bertujuan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menguraikan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jelas</a:t>
            </a:r>
            <a:r>
              <a:rPr lang="en-US" dirty="0"/>
              <a:t> </a:t>
            </a:r>
            <a:r>
              <a:rPr lang="en-US" dirty="0" err="1" smtClean="0"/>
              <a:t>semua</a:t>
            </a:r>
            <a:r>
              <a:rPr lang="en-US" dirty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dirty="0" err="1"/>
              <a:t>rujukan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bacaan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dicantumkan</a:t>
            </a:r>
            <a:r>
              <a:rPr lang="en-US" dirty="0"/>
              <a:t> di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/>
              <a:t>tulisan</a:t>
            </a:r>
            <a:r>
              <a:rPr lang="en-US" dirty="0"/>
              <a:t>,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 smtClean="0"/>
              <a:t>buku</a:t>
            </a:r>
            <a:r>
              <a:rPr lang="en-US" dirty="0" smtClean="0"/>
              <a:t>, </a:t>
            </a:r>
            <a:r>
              <a:rPr lang="en-US" dirty="0" err="1" smtClean="0"/>
              <a:t>jurnal</a:t>
            </a:r>
            <a:r>
              <a:rPr lang="en-US" dirty="0" smtClean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majalah</a:t>
            </a:r>
            <a:r>
              <a:rPr lang="en-US" dirty="0"/>
              <a:t>, </a:t>
            </a:r>
            <a:r>
              <a:rPr lang="en-US" dirty="0" err="1"/>
              <a:t>tesis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disertasi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lain </a:t>
            </a:r>
            <a:r>
              <a:rPr lang="en-US" dirty="0" err="1"/>
              <a:t>sebagainya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err="1" smtClean="0"/>
              <a:t>Daftar</a:t>
            </a:r>
            <a:r>
              <a:rPr lang="en-US" dirty="0" smtClean="0"/>
              <a:t> </a:t>
            </a:r>
            <a:r>
              <a:rPr lang="en-US" dirty="0" err="1" smtClean="0"/>
              <a:t>pustaka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membantu</a:t>
            </a:r>
            <a:r>
              <a:rPr lang="en-US" dirty="0" smtClean="0"/>
              <a:t> </a:t>
            </a:r>
            <a:r>
              <a:rPr lang="en-US" dirty="0" err="1"/>
              <a:t>pembaca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sumber-sumber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 smtClean="0"/>
              <a:t>dalampenulisan</a:t>
            </a:r>
            <a:r>
              <a:rPr lang="en-US" dirty="0" smtClean="0"/>
              <a:t> </a:t>
            </a:r>
            <a:r>
              <a:rPr lang="en-US" dirty="0" err="1"/>
              <a:t>ilmiah</a:t>
            </a:r>
            <a:r>
              <a:rPr lang="en-US" dirty="0"/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092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 smtClean="0"/>
              <a:t>Tipe</a:t>
            </a:r>
            <a:r>
              <a:rPr lang="en-ID" dirty="0" smtClean="0"/>
              <a:t> </a:t>
            </a:r>
            <a:r>
              <a:rPr lang="en-ID" dirty="0" err="1" smtClean="0"/>
              <a:t>referensi</a:t>
            </a:r>
            <a:r>
              <a:rPr lang="en-ID" dirty="0" smtClean="0"/>
              <a:t> </a:t>
            </a:r>
            <a:r>
              <a:rPr lang="en-ID" dirty="0" err="1" smtClean="0"/>
              <a:t>sebagai</a:t>
            </a:r>
            <a:r>
              <a:rPr lang="en-ID" dirty="0" smtClean="0"/>
              <a:t> </a:t>
            </a:r>
            <a:r>
              <a:rPr lang="en-ID" dirty="0" err="1" smtClean="0"/>
              <a:t>acuan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Ada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referensi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mengacu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, </a:t>
            </a:r>
            <a:r>
              <a:rPr lang="en-US" dirty="0" err="1"/>
              <a:t>antara</a:t>
            </a:r>
            <a:r>
              <a:rPr lang="en-US" dirty="0"/>
              <a:t> lain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 smtClean="0"/>
              <a:t>cara</a:t>
            </a:r>
            <a:r>
              <a:rPr lang="en-US" dirty="0"/>
              <a:t> </a:t>
            </a:r>
            <a:r>
              <a:rPr lang="en-US" dirty="0" err="1" smtClean="0"/>
              <a:t>mengacu</a:t>
            </a:r>
            <a:r>
              <a:rPr lang="en-US" dirty="0" smtClean="0"/>
              <a:t> </a:t>
            </a:r>
            <a:r>
              <a:rPr lang="en-US" dirty="0"/>
              <a:t>yang </a:t>
            </a:r>
            <a:r>
              <a:rPr lang="en-US" dirty="0" err="1"/>
              <a:t>ditentukan</a:t>
            </a:r>
            <a:r>
              <a:rPr lang="en-US" dirty="0"/>
              <a:t> </a:t>
            </a:r>
            <a:r>
              <a:rPr lang="en-US" dirty="0" err="1" smtClean="0"/>
              <a:t>oleh</a:t>
            </a:r>
            <a:r>
              <a:rPr lang="en-US" dirty="0" smtClean="0"/>
              <a:t>:</a:t>
            </a:r>
          </a:p>
          <a:p>
            <a:r>
              <a:rPr lang="en-ID" b="1" dirty="0" smtClean="0"/>
              <a:t>IEEE (</a:t>
            </a:r>
            <a:r>
              <a:rPr lang="en-US" b="1" i="1" dirty="0"/>
              <a:t>Institute of Electrical and </a:t>
            </a:r>
            <a:r>
              <a:rPr lang="en-US" b="1" i="1" dirty="0" smtClean="0"/>
              <a:t>Electronics Engineers</a:t>
            </a:r>
            <a:r>
              <a:rPr lang="en-US" b="1" dirty="0" smtClean="0"/>
              <a:t>)</a:t>
            </a:r>
            <a:endParaRPr lang="en-ID" b="1" dirty="0" smtClean="0"/>
          </a:p>
          <a:p>
            <a:r>
              <a:rPr lang="en-ID" i="1" dirty="0" smtClean="0"/>
              <a:t>Chicago style</a:t>
            </a:r>
          </a:p>
          <a:p>
            <a:r>
              <a:rPr lang="en-ID" b="1" dirty="0" smtClean="0"/>
              <a:t>APA </a:t>
            </a:r>
            <a:r>
              <a:rPr lang="en-ID" b="1" i="1" dirty="0" smtClean="0"/>
              <a:t>style</a:t>
            </a:r>
            <a:r>
              <a:rPr lang="en-ID" b="1" dirty="0" smtClean="0"/>
              <a:t> (</a:t>
            </a:r>
            <a:r>
              <a:rPr lang="en-ID" b="1" i="1" dirty="0" smtClean="0"/>
              <a:t>American </a:t>
            </a:r>
            <a:r>
              <a:rPr lang="en-ID" b="1" i="1" dirty="0"/>
              <a:t>Psychological </a:t>
            </a:r>
            <a:r>
              <a:rPr lang="en-ID" b="1" i="1" dirty="0" smtClean="0"/>
              <a:t>Association</a:t>
            </a:r>
            <a:r>
              <a:rPr lang="en-ID" b="1" dirty="0" smtClean="0"/>
              <a:t>)</a:t>
            </a:r>
          </a:p>
          <a:p>
            <a:r>
              <a:rPr lang="sv-SE" dirty="0" smtClean="0"/>
              <a:t>MLA </a:t>
            </a:r>
            <a:r>
              <a:rPr lang="sv-SE" i="1" dirty="0"/>
              <a:t>s</a:t>
            </a:r>
            <a:r>
              <a:rPr lang="sv-SE" i="1" dirty="0" smtClean="0"/>
              <a:t>tyle</a:t>
            </a:r>
            <a:r>
              <a:rPr lang="sv-SE" dirty="0" smtClean="0"/>
              <a:t> </a:t>
            </a:r>
            <a:r>
              <a:rPr lang="sv-SE" i="1" dirty="0" smtClean="0"/>
              <a:t>(Modern Language Association)</a:t>
            </a:r>
          </a:p>
          <a:p>
            <a:r>
              <a:rPr lang="en-US" dirty="0" smtClean="0"/>
              <a:t>AMA </a:t>
            </a:r>
            <a:r>
              <a:rPr lang="en-US" i="1" dirty="0"/>
              <a:t>s</a:t>
            </a:r>
            <a:r>
              <a:rPr lang="en-US" i="1" dirty="0" smtClean="0"/>
              <a:t>tyle</a:t>
            </a:r>
            <a:r>
              <a:rPr lang="en-US" dirty="0" smtClean="0"/>
              <a:t> </a:t>
            </a:r>
            <a:r>
              <a:rPr lang="en-ID" dirty="0"/>
              <a:t>(</a:t>
            </a:r>
            <a:r>
              <a:rPr lang="en-ID" i="1" dirty="0"/>
              <a:t>American Medical Association</a:t>
            </a:r>
            <a:r>
              <a:rPr lang="en-ID" dirty="0"/>
              <a:t>)</a:t>
            </a:r>
            <a:endParaRPr lang="en-ID" dirty="0" smtClean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42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smtClean="0"/>
              <a:t>IEEE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87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 smtClean="0"/>
              <a:t>Tata </a:t>
            </a:r>
            <a:r>
              <a:rPr lang="en-ID" dirty="0" err="1" smtClean="0"/>
              <a:t>penulisan</a:t>
            </a:r>
            <a:r>
              <a:rPr lang="en-ID" dirty="0" smtClean="0"/>
              <a:t> </a:t>
            </a:r>
            <a:r>
              <a:rPr lang="en-ID" dirty="0" err="1" smtClean="0"/>
              <a:t>kutipan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799" y="1816274"/>
            <a:ext cx="10156521" cy="4218766"/>
          </a:xfrm>
        </p:spPr>
        <p:txBody>
          <a:bodyPr>
            <a:normAutofit/>
          </a:bodyPr>
          <a:lstStyle/>
          <a:p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cara</a:t>
            </a:r>
            <a:r>
              <a:rPr lang="en-US" sz="2000" dirty="0"/>
              <a:t> </a:t>
            </a:r>
            <a:r>
              <a:rPr lang="en-US" sz="2000" dirty="0" err="1"/>
              <a:t>pengacuan</a:t>
            </a:r>
            <a:r>
              <a:rPr lang="en-US" sz="2000" dirty="0"/>
              <a:t> </a:t>
            </a:r>
            <a:r>
              <a:rPr lang="en-US" sz="2000" dirty="0" err="1" smtClean="0"/>
              <a:t>menurut</a:t>
            </a:r>
            <a:r>
              <a:rPr lang="en-US" sz="2000" dirty="0"/>
              <a:t> </a:t>
            </a:r>
            <a:r>
              <a:rPr lang="en-US" sz="2000" dirty="0" smtClean="0"/>
              <a:t>IEEE</a:t>
            </a:r>
            <a:r>
              <a:rPr lang="en-US" sz="2000" dirty="0"/>
              <a:t>, </a:t>
            </a:r>
            <a:r>
              <a:rPr lang="en-US" sz="2000" dirty="0" err="1"/>
              <a:t>setiap</a:t>
            </a:r>
            <a:r>
              <a:rPr lang="en-US" sz="2000" dirty="0"/>
              <a:t> </a:t>
            </a:r>
            <a:r>
              <a:rPr lang="en-US" sz="2000" dirty="0" err="1"/>
              <a:t>referensi</a:t>
            </a:r>
            <a:r>
              <a:rPr lang="en-US" sz="2000" dirty="0"/>
              <a:t> </a:t>
            </a:r>
            <a:r>
              <a:rPr lang="en-US" sz="2000" dirty="0" err="1"/>
              <a:t>diberi</a:t>
            </a:r>
            <a:r>
              <a:rPr lang="en-US" sz="2000" dirty="0"/>
              <a:t> </a:t>
            </a:r>
            <a:r>
              <a:rPr lang="en-US" sz="2000" dirty="0" err="1"/>
              <a:t>nomor</a:t>
            </a:r>
            <a:r>
              <a:rPr lang="en-US" sz="2000" dirty="0"/>
              <a:t> </a:t>
            </a:r>
            <a:r>
              <a:rPr lang="en-US" sz="2000" dirty="0" err="1"/>
              <a:t>berdasarkan</a:t>
            </a:r>
            <a:r>
              <a:rPr lang="en-US" sz="2000" dirty="0"/>
              <a:t> </a:t>
            </a:r>
            <a:r>
              <a:rPr lang="en-US" sz="2000" dirty="0" err="1"/>
              <a:t>urutan</a:t>
            </a:r>
            <a:r>
              <a:rPr lang="en-US" sz="2000" dirty="0"/>
              <a:t> </a:t>
            </a:r>
            <a:r>
              <a:rPr lang="en-US" sz="2000" dirty="0" err="1"/>
              <a:t>kemunculannya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dokumen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Ketika</a:t>
            </a:r>
            <a:r>
              <a:rPr lang="en-US" sz="2000" dirty="0"/>
              <a:t> </a:t>
            </a:r>
            <a:r>
              <a:rPr lang="en-US" sz="2000" dirty="0" err="1"/>
              <a:t>mengacu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</a:t>
            </a:r>
            <a:r>
              <a:rPr lang="en-US" sz="2000" dirty="0" err="1"/>
              <a:t>referensi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tulisan</a:t>
            </a:r>
            <a:r>
              <a:rPr lang="en-US" sz="2000" dirty="0"/>
              <a:t>,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nomor</a:t>
            </a:r>
            <a:r>
              <a:rPr lang="en-US" sz="2000" dirty="0"/>
              <a:t> </a:t>
            </a:r>
            <a:r>
              <a:rPr lang="en-US" sz="2000" dirty="0" err="1"/>
              <a:t>referensi</a:t>
            </a:r>
            <a:r>
              <a:rPr lang="en-US" sz="2000" dirty="0"/>
              <a:t> yang </a:t>
            </a:r>
            <a:r>
              <a:rPr lang="en-US" sz="2000" dirty="0" err="1" smtClean="0"/>
              <a:t>diapit</a:t>
            </a:r>
            <a:r>
              <a:rPr lang="en-US" sz="2000" dirty="0" smtClean="0"/>
              <a:t> </a:t>
            </a:r>
            <a:r>
              <a:rPr lang="en-US" sz="2000" dirty="0" err="1" smtClean="0"/>
              <a:t>oleh</a:t>
            </a:r>
            <a:r>
              <a:rPr lang="en-US" sz="2000" dirty="0" smtClean="0"/>
              <a:t> </a:t>
            </a:r>
            <a:r>
              <a:rPr lang="en-US" sz="2000" dirty="0" err="1"/>
              <a:t>kurung</a:t>
            </a:r>
            <a:r>
              <a:rPr lang="en-US" sz="2000" dirty="0"/>
              <a:t> </a:t>
            </a:r>
            <a:r>
              <a:rPr lang="en-US" sz="2000" dirty="0" err="1" smtClean="0"/>
              <a:t>siku</a:t>
            </a:r>
            <a:r>
              <a:rPr lang="en-US" sz="2000" dirty="0" smtClean="0"/>
              <a:t> </a:t>
            </a:r>
            <a:r>
              <a:rPr lang="en-US" sz="2000" b="1" dirty="0" smtClean="0"/>
              <a:t>[ ]</a:t>
            </a:r>
            <a:r>
              <a:rPr lang="en-US" sz="2000" dirty="0" smtClean="0"/>
              <a:t>.</a:t>
            </a:r>
            <a:endParaRPr lang="en-US" sz="2000" dirty="0"/>
          </a:p>
          <a:p>
            <a:r>
              <a:rPr lang="en-US" sz="2000" dirty="0"/>
              <a:t>“…. </a:t>
            </a:r>
            <a:r>
              <a:rPr lang="en-US" sz="2000" dirty="0" err="1"/>
              <a:t>Sesuai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data yang </a:t>
            </a:r>
            <a:r>
              <a:rPr lang="en-US" sz="2000" dirty="0" err="1"/>
              <a:t>diambil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akhir</a:t>
            </a:r>
            <a:r>
              <a:rPr lang="en-US" sz="2000" dirty="0"/>
              <a:t> </a:t>
            </a:r>
            <a:r>
              <a:rPr lang="en-US" sz="2000" dirty="0" err="1"/>
              <a:t>penelitian</a:t>
            </a:r>
            <a:r>
              <a:rPr lang="en-US" sz="2000" dirty="0"/>
              <a:t> [13].”</a:t>
            </a:r>
            <a:br>
              <a:rPr lang="en-US" sz="2000" dirty="0"/>
            </a:br>
            <a:r>
              <a:rPr lang="en-US" sz="2000" dirty="0"/>
              <a:t>“… </a:t>
            </a:r>
            <a:r>
              <a:rPr lang="en-US" sz="2000" dirty="0" err="1"/>
              <a:t>teori</a:t>
            </a:r>
            <a:r>
              <a:rPr lang="en-US" sz="2000" dirty="0"/>
              <a:t> yang </a:t>
            </a:r>
            <a:r>
              <a:rPr lang="en-US" sz="2000" dirty="0" err="1"/>
              <a:t>dipublikasikan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tahun</a:t>
            </a:r>
            <a:r>
              <a:rPr lang="en-US" sz="2000" dirty="0"/>
              <a:t> 1999 [1].”</a:t>
            </a:r>
            <a:br>
              <a:rPr lang="en-US" sz="2000" dirty="0"/>
            </a:br>
            <a:r>
              <a:rPr lang="en-US" sz="2000" dirty="0"/>
              <a:t>“… </a:t>
            </a:r>
            <a:r>
              <a:rPr lang="en-US" sz="2000" dirty="0" err="1"/>
              <a:t>scohltz</a:t>
            </a:r>
            <a:r>
              <a:rPr lang="en-US" sz="2000" dirty="0"/>
              <a:t> [2] </a:t>
            </a:r>
            <a:r>
              <a:rPr lang="en-US" sz="2000" dirty="0" err="1"/>
              <a:t>berpendapat</a:t>
            </a:r>
            <a:r>
              <a:rPr lang="en-US" sz="2000" dirty="0"/>
              <a:t> …”</a:t>
            </a:r>
            <a:br>
              <a:rPr lang="en-US" sz="2000" dirty="0"/>
            </a:br>
            <a:r>
              <a:rPr lang="en-US" sz="2000" dirty="0"/>
              <a:t>“ …</a:t>
            </a:r>
            <a:r>
              <a:rPr lang="en-US" sz="2000" dirty="0" err="1"/>
              <a:t>Beberapa</a:t>
            </a:r>
            <a:r>
              <a:rPr lang="en-US" sz="2000" dirty="0"/>
              <a:t> </a:t>
            </a:r>
            <a:r>
              <a:rPr lang="en-US" sz="2000" dirty="0" err="1"/>
              <a:t>penelitian</a:t>
            </a:r>
            <a:r>
              <a:rPr lang="en-US" sz="2000" dirty="0"/>
              <a:t> </a:t>
            </a:r>
            <a:r>
              <a:rPr lang="en-US" sz="2000" dirty="0" err="1"/>
              <a:t>sebelumnya</a:t>
            </a:r>
            <a:r>
              <a:rPr lang="en-US" sz="2000" dirty="0"/>
              <a:t> [3, 4, 5,16]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menyarankan</a:t>
            </a:r>
            <a:r>
              <a:rPr lang="en-US" sz="2000" dirty="0"/>
              <a:t>  </a:t>
            </a:r>
            <a:r>
              <a:rPr lang="en-US" sz="2000" dirty="0" smtClean="0"/>
              <a:t>…”</a:t>
            </a:r>
          </a:p>
          <a:p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perlu</a:t>
            </a:r>
            <a:r>
              <a:rPr lang="en-US" sz="2000" dirty="0"/>
              <a:t> </a:t>
            </a:r>
            <a:r>
              <a:rPr lang="en-US" sz="2000" dirty="0" err="1"/>
              <a:t>mencantumkan</a:t>
            </a:r>
            <a:r>
              <a:rPr lang="en-US" sz="2000" dirty="0"/>
              <a:t> </a:t>
            </a:r>
            <a:r>
              <a:rPr lang="en-US" sz="2000" dirty="0" err="1"/>
              <a:t>baik</a:t>
            </a:r>
            <a:r>
              <a:rPr lang="en-US" sz="2000" dirty="0"/>
              <a:t> </a:t>
            </a:r>
            <a:r>
              <a:rPr lang="en-US" sz="2000" dirty="0" err="1"/>
              <a:t>pengarang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tanggal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referensi</a:t>
            </a:r>
            <a:r>
              <a:rPr lang="en-US" sz="2000" dirty="0"/>
              <a:t> </a:t>
            </a:r>
            <a:r>
              <a:rPr lang="en-US" sz="2000" dirty="0" err="1"/>
              <a:t>kecuali</a:t>
            </a:r>
            <a:r>
              <a:rPr lang="en-US" sz="2000" dirty="0"/>
              <a:t> </a:t>
            </a:r>
            <a:r>
              <a:rPr lang="en-US" sz="2000" dirty="0" err="1"/>
              <a:t>relevan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text yang </a:t>
            </a:r>
            <a:r>
              <a:rPr lang="en-US" sz="2000" dirty="0" err="1"/>
              <a:t>digunakan</a:t>
            </a:r>
            <a:r>
              <a:rPr lang="en-US" sz="2000" dirty="0"/>
              <a:t>. </a:t>
            </a:r>
            <a:r>
              <a:rPr lang="en-US" sz="2000" dirty="0" err="1"/>
              <a:t>Sebaiknya</a:t>
            </a:r>
            <a:r>
              <a:rPr lang="en-US" sz="2000" dirty="0"/>
              <a:t> </a:t>
            </a:r>
            <a:r>
              <a:rPr lang="en-US" sz="2000" dirty="0" err="1"/>
              <a:t>ditulis</a:t>
            </a:r>
            <a:r>
              <a:rPr lang="en-US" sz="2000" dirty="0"/>
              <a:t> </a:t>
            </a:r>
            <a:r>
              <a:rPr lang="en-US" sz="2000" dirty="0" err="1"/>
              <a:t>cukup</a:t>
            </a:r>
            <a:r>
              <a:rPr lang="en-US" sz="2000" dirty="0"/>
              <a:t> </a:t>
            </a:r>
            <a:r>
              <a:rPr lang="en-US" sz="2000" dirty="0" err="1"/>
              <a:t>seperti</a:t>
            </a:r>
            <a:r>
              <a:rPr lang="en-US" sz="2000" dirty="0"/>
              <a:t> </a:t>
            </a:r>
            <a:r>
              <a:rPr lang="en-US" sz="2000" dirty="0" err="1"/>
              <a:t>berikut</a:t>
            </a:r>
            <a:r>
              <a:rPr lang="en-US" sz="2000" dirty="0"/>
              <a:t>  “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referensi</a:t>
            </a:r>
            <a:r>
              <a:rPr lang="en-US" sz="2000" dirty="0"/>
              <a:t> [26] … “, “</a:t>
            </a:r>
            <a:r>
              <a:rPr lang="en-US" sz="2000" dirty="0" err="1"/>
              <a:t>dalam</a:t>
            </a:r>
            <a:r>
              <a:rPr lang="en-US" sz="2000" dirty="0"/>
              <a:t> [26] </a:t>
            </a:r>
            <a:r>
              <a:rPr lang="en-US" sz="2000" dirty="0" smtClean="0"/>
              <a:t>…”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84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2044"/>
            <a:ext cx="10058400" cy="1371600"/>
          </a:xfrm>
        </p:spPr>
        <p:txBody>
          <a:bodyPr/>
          <a:lstStyle/>
          <a:p>
            <a:r>
              <a:rPr lang="en-ID" dirty="0" err="1" smtClean="0"/>
              <a:t>Penulisan</a:t>
            </a:r>
            <a:r>
              <a:rPr lang="en-ID" dirty="0" smtClean="0"/>
              <a:t> </a:t>
            </a:r>
            <a:r>
              <a:rPr lang="en-ID" dirty="0" err="1" smtClean="0"/>
              <a:t>dalam</a:t>
            </a:r>
            <a:r>
              <a:rPr lang="en-ID" dirty="0" smtClean="0"/>
              <a:t> </a:t>
            </a:r>
            <a:r>
              <a:rPr lang="en-ID" dirty="0" err="1" smtClean="0"/>
              <a:t>referensi</a:t>
            </a:r>
            <a:r>
              <a:rPr lang="en-ID" dirty="0" smtClean="0"/>
              <a:t> (</a:t>
            </a:r>
            <a:r>
              <a:rPr lang="en-ID" dirty="0" err="1" smtClean="0"/>
              <a:t>Buku</a:t>
            </a:r>
            <a:r>
              <a:rPr lang="en-ID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753644"/>
            <a:ext cx="10058400" cy="42813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D" dirty="0" err="1" smtClean="0"/>
              <a:t>Buku</a:t>
            </a:r>
            <a:endParaRPr lang="en-ID" dirty="0" smtClean="0"/>
          </a:p>
          <a:p>
            <a:pPr marL="0" indent="0">
              <a:buNone/>
            </a:pPr>
            <a:r>
              <a:rPr lang="en-US" b="1" dirty="0"/>
              <a:t>[#] A. A. </a:t>
            </a:r>
            <a:r>
              <a:rPr lang="en-US" b="1" dirty="0" err="1"/>
              <a:t>Pengarang</a:t>
            </a:r>
            <a:r>
              <a:rPr lang="en-US" b="1" dirty="0"/>
              <a:t>/editor, </a:t>
            </a:r>
            <a:r>
              <a:rPr lang="en-US" b="1" i="1" dirty="0" err="1"/>
              <a:t>Judul</a:t>
            </a:r>
            <a:r>
              <a:rPr lang="en-US" b="1" i="1" dirty="0"/>
              <a:t>: </a:t>
            </a:r>
            <a:r>
              <a:rPr lang="en-US" b="1" i="1" dirty="0" err="1"/>
              <a:t>Subjudul</a:t>
            </a:r>
            <a:r>
              <a:rPr lang="en-US" b="1" i="1" dirty="0"/>
              <a:t> </a:t>
            </a:r>
            <a:r>
              <a:rPr lang="en-US" dirty="0"/>
              <a:t>(</a:t>
            </a:r>
            <a:r>
              <a:rPr lang="en-US" dirty="0" err="1"/>
              <a:t>dalam</a:t>
            </a:r>
            <a:r>
              <a:rPr lang="en-US" dirty="0"/>
              <a:t> </a:t>
            </a:r>
            <a:r>
              <a:rPr lang="en-US" i="1" dirty="0"/>
              <a:t>italics</a:t>
            </a:r>
            <a:r>
              <a:rPr lang="en-US" dirty="0"/>
              <a:t>)</a:t>
            </a:r>
            <a:r>
              <a:rPr lang="en-US" b="1" dirty="0"/>
              <a:t>, </a:t>
            </a:r>
            <a:r>
              <a:rPr lang="en-US" b="1" dirty="0" err="1"/>
              <a:t>Edisi</a:t>
            </a:r>
            <a:r>
              <a:rPr lang="en-US" b="1" dirty="0"/>
              <a:t> </a:t>
            </a:r>
            <a:r>
              <a:rPr lang="en-US" dirty="0"/>
              <a:t>(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bukan</a:t>
            </a:r>
            <a:r>
              <a:rPr lang="en-US" dirty="0"/>
              <a:t> yang </a:t>
            </a:r>
            <a:r>
              <a:rPr lang="en-US" dirty="0" err="1"/>
              <a:t>pertama</a:t>
            </a:r>
            <a:r>
              <a:rPr lang="en-US" dirty="0"/>
              <a:t>)</a:t>
            </a:r>
            <a:r>
              <a:rPr lang="en-US" b="1" dirty="0"/>
              <a:t>, Vol.</a:t>
            </a:r>
            <a:r>
              <a:rPr lang="en-US" dirty="0"/>
              <a:t>(</a:t>
            </a:r>
            <a:r>
              <a:rPr lang="en-US" dirty="0" err="1"/>
              <a:t>bila</a:t>
            </a:r>
            <a:r>
              <a:rPr lang="en-US" dirty="0"/>
              <a:t> multivolume)</a:t>
            </a:r>
            <a:r>
              <a:rPr lang="en-US" b="1" dirty="0"/>
              <a:t>. </a:t>
            </a:r>
            <a:r>
              <a:rPr lang="en-US" b="1" dirty="0" err="1"/>
              <a:t>Tempat</a:t>
            </a:r>
            <a:r>
              <a:rPr lang="en-US" b="1" dirty="0"/>
              <a:t> </a:t>
            </a:r>
            <a:r>
              <a:rPr lang="en-US" b="1" dirty="0" err="1"/>
              <a:t>publikasi</a:t>
            </a:r>
            <a:r>
              <a:rPr lang="en-US" b="1" dirty="0"/>
              <a:t>: </a:t>
            </a:r>
            <a:r>
              <a:rPr lang="en-US" b="1" dirty="0" err="1"/>
              <a:t>Penerbit</a:t>
            </a:r>
            <a:r>
              <a:rPr lang="en-US" b="1" dirty="0"/>
              <a:t>, </a:t>
            </a:r>
            <a:r>
              <a:rPr lang="en-US" b="1" dirty="0" err="1"/>
              <a:t>Tahun</a:t>
            </a:r>
            <a:r>
              <a:rPr lang="en-US" b="1" dirty="0"/>
              <a:t>, </a:t>
            </a:r>
            <a:r>
              <a:rPr lang="en-US" b="1" dirty="0" err="1"/>
              <a:t>noHalaman</a:t>
            </a:r>
            <a:r>
              <a:rPr lang="en-US" b="1" dirty="0"/>
              <a:t>(s) </a:t>
            </a:r>
            <a:r>
              <a:rPr lang="en-US" dirty="0"/>
              <a:t>(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 smtClean="0"/>
              <a:t>)</a:t>
            </a:r>
          </a:p>
          <a:p>
            <a:pPr marL="0" indent="0" fontAlgn="base">
              <a:buNone/>
            </a:pPr>
            <a:r>
              <a:rPr lang="en-US" b="1" dirty="0"/>
              <a:t>a. </a:t>
            </a:r>
            <a:r>
              <a:rPr lang="en-US" b="1" dirty="0" err="1"/>
              <a:t>Pengarang</a:t>
            </a:r>
            <a:r>
              <a:rPr lang="en-US" b="1" dirty="0"/>
              <a:t>  </a:t>
            </a:r>
            <a:r>
              <a:rPr lang="en-US" b="1" dirty="0" err="1"/>
              <a:t>tunggal</a:t>
            </a:r>
            <a:r>
              <a:rPr lang="en-US" b="1" dirty="0"/>
              <a:t> 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W.-K. Chen, </a:t>
            </a:r>
            <a:r>
              <a:rPr lang="en-US" i="1" dirty="0"/>
              <a:t>Linear Networks and Systems</a:t>
            </a:r>
            <a:r>
              <a:rPr lang="en-US" dirty="0"/>
              <a:t>. Belmont, CA: Wadsworth, 1993, pp. 123-135.</a:t>
            </a:r>
          </a:p>
          <a:p>
            <a:pPr marL="0" indent="0" fontAlgn="base">
              <a:buNone/>
            </a:pPr>
            <a:r>
              <a:rPr lang="en-US" b="1" dirty="0"/>
              <a:t>b. </a:t>
            </a:r>
            <a:r>
              <a:rPr lang="en-US" b="1" dirty="0" err="1"/>
              <a:t>Hasil</a:t>
            </a:r>
            <a:r>
              <a:rPr lang="en-US" b="1" dirty="0"/>
              <a:t> Editor 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D. </a:t>
            </a:r>
            <a:r>
              <a:rPr lang="en-US" dirty="0" err="1"/>
              <a:t>Sarunyagate</a:t>
            </a:r>
            <a:r>
              <a:rPr lang="en-US" dirty="0"/>
              <a:t>, Ed., </a:t>
            </a:r>
            <a:r>
              <a:rPr lang="en-US" i="1" dirty="0"/>
              <a:t>Lasers</a:t>
            </a:r>
            <a:r>
              <a:rPr lang="en-US" dirty="0"/>
              <a:t>. New York: McGraw-Hill, 1996.</a:t>
            </a:r>
          </a:p>
          <a:p>
            <a:pPr marL="0" indent="0" fontAlgn="base">
              <a:buNone/>
            </a:pPr>
            <a:r>
              <a:rPr lang="en-US" b="1" dirty="0"/>
              <a:t>c. </a:t>
            </a:r>
            <a:r>
              <a:rPr lang="en-US" b="1" dirty="0" err="1"/>
              <a:t>Dua</a:t>
            </a:r>
            <a:r>
              <a:rPr lang="en-US" b="1" dirty="0"/>
              <a:t> </a:t>
            </a:r>
            <a:r>
              <a:rPr lang="en-US" b="1" dirty="0" err="1"/>
              <a:t>pengarang</a:t>
            </a:r>
            <a:r>
              <a:rPr lang="en-US" b="1" dirty="0"/>
              <a:t> 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T. Jordan and P. A. Taylor, </a:t>
            </a:r>
            <a:r>
              <a:rPr lang="en-US" i="1" dirty="0"/>
              <a:t>Hacktivism and Cyberwars: Rebels with a cause? </a:t>
            </a:r>
            <a:r>
              <a:rPr lang="en-US" dirty="0"/>
              <a:t>London: Routledge, 2004.</a:t>
            </a:r>
          </a:p>
          <a:p>
            <a:pPr marL="0" indent="0" fontAlgn="base">
              <a:buNone/>
            </a:pPr>
            <a:r>
              <a:rPr lang="en-US" b="1" dirty="0"/>
              <a:t>d. </a:t>
            </a:r>
            <a:r>
              <a:rPr lang="en-US" b="1" dirty="0" err="1"/>
              <a:t>Lebih</a:t>
            </a:r>
            <a:r>
              <a:rPr lang="en-US" b="1" dirty="0"/>
              <a:t> </a:t>
            </a:r>
            <a:r>
              <a:rPr lang="en-US" b="1" dirty="0" err="1"/>
              <a:t>dari</a:t>
            </a:r>
            <a:r>
              <a:rPr lang="en-US" b="1" dirty="0"/>
              <a:t> </a:t>
            </a:r>
            <a:r>
              <a:rPr lang="en-US" b="1" dirty="0" err="1"/>
              <a:t>dua</a:t>
            </a:r>
            <a:r>
              <a:rPr lang="en-US" b="1" dirty="0"/>
              <a:t> </a:t>
            </a:r>
            <a:r>
              <a:rPr lang="en-US" b="1" dirty="0" err="1"/>
              <a:t>pengarang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R. Hayes, G. Pisano, and S. Wheelwright, </a:t>
            </a:r>
            <a:r>
              <a:rPr lang="en-US" i="1" dirty="0"/>
              <a:t>Operations, Strategy, and Technology: Pursuing the competitive edge</a:t>
            </a:r>
            <a:r>
              <a:rPr lang="en-US" dirty="0"/>
              <a:t>. Hoboken, NJ : Wiley, 2005.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32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141" y="642594"/>
            <a:ext cx="10809960" cy="1023368"/>
          </a:xfrm>
        </p:spPr>
        <p:txBody>
          <a:bodyPr>
            <a:normAutofit fontScale="90000"/>
          </a:bodyPr>
          <a:lstStyle/>
          <a:p>
            <a:r>
              <a:rPr lang="en-ID" dirty="0" err="1"/>
              <a:t>Penulisan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referensi</a:t>
            </a:r>
            <a:r>
              <a:rPr lang="en-ID" dirty="0"/>
              <a:t> (</a:t>
            </a:r>
            <a:r>
              <a:rPr lang="en-ID" dirty="0" err="1"/>
              <a:t>Buku</a:t>
            </a:r>
            <a:r>
              <a:rPr lang="en-ID" dirty="0" smtClean="0"/>
              <a:t>)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873" y="1665962"/>
            <a:ext cx="10697227" cy="4797468"/>
          </a:xfrm>
        </p:spPr>
        <p:txBody>
          <a:bodyPr>
            <a:normAutofit fontScale="85000" lnSpcReduction="20000"/>
          </a:bodyPr>
          <a:lstStyle/>
          <a:p>
            <a:pPr marL="0" indent="0" fontAlgn="base">
              <a:buNone/>
            </a:pPr>
            <a:r>
              <a:rPr lang="en-US" b="1" dirty="0"/>
              <a:t>e. </a:t>
            </a:r>
            <a:r>
              <a:rPr lang="en-US" b="1" dirty="0" err="1"/>
              <a:t>Pengarang</a:t>
            </a:r>
            <a:r>
              <a:rPr lang="en-US" b="1" dirty="0"/>
              <a:t> </a:t>
            </a:r>
            <a:r>
              <a:rPr lang="en-US" b="1" dirty="0" err="1"/>
              <a:t>adalah</a:t>
            </a:r>
            <a:r>
              <a:rPr lang="en-US" b="1" dirty="0"/>
              <a:t> </a:t>
            </a:r>
            <a:r>
              <a:rPr lang="en-US" b="1" dirty="0" err="1"/>
              <a:t>perusahaan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World Bank, Information</a:t>
            </a:r>
            <a:r>
              <a:rPr lang="en-US" i="1" dirty="0"/>
              <a:t> and Communication Technologies: A World Bank group strategy</a:t>
            </a:r>
            <a:r>
              <a:rPr lang="en-US" dirty="0"/>
              <a:t>. Washington, DC : World Bank, </a:t>
            </a:r>
            <a:r>
              <a:rPr lang="en-US" dirty="0" smtClean="0"/>
              <a:t>2002.</a:t>
            </a:r>
          </a:p>
          <a:p>
            <a:pPr marL="0" indent="0" fontAlgn="base">
              <a:buNone/>
            </a:pPr>
            <a:r>
              <a:rPr lang="en-US" b="1" dirty="0" smtClean="0"/>
              <a:t>f</a:t>
            </a:r>
            <a:r>
              <a:rPr lang="en-US" b="1" dirty="0"/>
              <a:t>. </a:t>
            </a:r>
            <a:r>
              <a:rPr lang="en-US" b="1" dirty="0" err="1"/>
              <a:t>Publikasi</a:t>
            </a:r>
            <a:r>
              <a:rPr lang="en-US" b="1" dirty="0"/>
              <a:t> </a:t>
            </a:r>
            <a:r>
              <a:rPr lang="en-US" b="1" dirty="0" err="1"/>
              <a:t>pemerintah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Australia. Attorney-Generals Department. </a:t>
            </a:r>
            <a:r>
              <a:rPr lang="en-US" i="1" dirty="0"/>
              <a:t>Digital Agenda Review</a:t>
            </a:r>
            <a:r>
              <a:rPr lang="en-US" dirty="0"/>
              <a:t>, 4 vols. Canberra: Attorney- General’s Department, 2003.</a:t>
            </a:r>
          </a:p>
          <a:p>
            <a:pPr marL="0" indent="0" fontAlgn="base">
              <a:buNone/>
            </a:pPr>
            <a:r>
              <a:rPr lang="en-US" b="1" dirty="0"/>
              <a:t>g. Manual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Bell Telephone Laboratories Technical Staff, </a:t>
            </a:r>
            <a:r>
              <a:rPr lang="en-US" i="1" dirty="0"/>
              <a:t>Transmission System for Communications</a:t>
            </a:r>
            <a:r>
              <a:rPr lang="en-US" dirty="0"/>
              <a:t>, Bell Telephone Laboratories, 1995.</a:t>
            </a:r>
          </a:p>
          <a:p>
            <a:pPr marL="0" indent="0" fontAlgn="base">
              <a:buNone/>
            </a:pPr>
            <a:r>
              <a:rPr lang="en-US" b="1" dirty="0"/>
              <a:t>h. </a:t>
            </a:r>
            <a:r>
              <a:rPr lang="en-US" b="1" dirty="0" err="1"/>
              <a:t>Standar</a:t>
            </a:r>
            <a:r>
              <a:rPr lang="en-US" b="1" dirty="0"/>
              <a:t> </a:t>
            </a:r>
            <a:r>
              <a:rPr lang="en-US" b="1" dirty="0" err="1"/>
              <a:t>internasional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ANSI T1.602-1989, Telecommunications-Integrated Services Digital Network (ISDN)-Data-Link </a:t>
            </a:r>
            <a:r>
              <a:rPr lang="en-US" dirty="0" err="1"/>
              <a:t>LayerSignaling</a:t>
            </a:r>
            <a:r>
              <a:rPr lang="en-US" dirty="0"/>
              <a:t> Specification for Application at the User-Network Interface. RIT Libraries</a:t>
            </a:r>
          </a:p>
          <a:p>
            <a:pPr marL="0" indent="0" fontAlgn="base">
              <a:buNone/>
            </a:pPr>
            <a:r>
              <a:rPr lang="en-US" b="1" dirty="0" err="1"/>
              <a:t>i</a:t>
            </a:r>
            <a:r>
              <a:rPr lang="en-US" b="1" dirty="0"/>
              <a:t>. </a:t>
            </a:r>
            <a:r>
              <a:rPr lang="en-US" b="1" dirty="0" err="1"/>
              <a:t>Raporan</a:t>
            </a:r>
            <a:r>
              <a:rPr lang="en-US" b="1" dirty="0"/>
              <a:t> </a:t>
            </a:r>
            <a:r>
              <a:rPr lang="en-US" b="1" dirty="0" err="1"/>
              <a:t>teknis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K. E. Elliott and C.M. Greene, “A local adaptive protocol,” Argonne National Laboratory, Argonne, France, Tech. Rep. 916-1010-BB, 1997.</a:t>
            </a:r>
          </a:p>
          <a:p>
            <a:pPr marL="0" indent="0" fontAlgn="base">
              <a:buNone/>
            </a:pPr>
            <a:r>
              <a:rPr lang="en-US" b="1" dirty="0"/>
              <a:t>j. Paten / </a:t>
            </a:r>
            <a:r>
              <a:rPr lang="en-US" b="1" dirty="0" err="1"/>
              <a:t>Standar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K. Kimura and A. </a:t>
            </a:r>
            <a:r>
              <a:rPr lang="en-US" dirty="0" err="1"/>
              <a:t>Lipeles</a:t>
            </a:r>
            <a:r>
              <a:rPr lang="en-US" dirty="0"/>
              <a:t>, “Fuzzy controller component, ” U. S. Patent 14,860,040, December 14, 1996.</a:t>
            </a:r>
          </a:p>
          <a:p>
            <a:pPr marL="0" indent="0" fontAlgn="base">
              <a:buNone/>
            </a:pPr>
            <a:r>
              <a:rPr lang="en-US" b="1" dirty="0"/>
              <a:t>k. </a:t>
            </a:r>
            <a:r>
              <a:rPr lang="en-US" b="1" dirty="0" err="1"/>
              <a:t>Tesis</a:t>
            </a:r>
            <a:r>
              <a:rPr lang="en-US" b="1" dirty="0"/>
              <a:t> </a:t>
            </a:r>
            <a:r>
              <a:rPr lang="en-US" b="1" dirty="0" err="1"/>
              <a:t>atau</a:t>
            </a:r>
            <a:r>
              <a:rPr lang="en-US" b="1" dirty="0"/>
              <a:t> </a:t>
            </a:r>
            <a:r>
              <a:rPr lang="en-US" b="1" dirty="0" err="1"/>
              <a:t>desertasi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H. Zhang, “Delay-insensitive networks,” M.S. thesis, University of Waterloo, Waterloo, ON, Canada, 1997.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22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err="1"/>
              <a:t>Penulisan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 smtClean="0"/>
              <a:t>referensi</a:t>
            </a:r>
            <a:r>
              <a:rPr lang="en-ID" dirty="0" smtClean="0"/>
              <a:t> (</a:t>
            </a:r>
            <a:r>
              <a:rPr lang="en-ID" dirty="0" err="1" smtClean="0"/>
              <a:t>Jurnal</a:t>
            </a:r>
            <a:r>
              <a:rPr lang="en-ID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dirty="0"/>
              <a:t>Standard </a:t>
            </a:r>
            <a:r>
              <a:rPr lang="en-US" b="1" dirty="0" smtClean="0"/>
              <a:t>format:</a:t>
            </a:r>
            <a:endParaRPr lang="en-US" b="1" dirty="0"/>
          </a:p>
          <a:p>
            <a:pPr fontAlgn="base"/>
            <a:r>
              <a:rPr lang="en-US" dirty="0"/>
              <a:t>[#] A. A. Author of article. “Title of article,” </a:t>
            </a:r>
            <a:r>
              <a:rPr lang="en-US" i="1" dirty="0"/>
              <a:t>Title of Journal</a:t>
            </a:r>
            <a:r>
              <a:rPr lang="en-US" dirty="0"/>
              <a:t>, vol. #, no. #, pp. page number/s, Month year.</a:t>
            </a:r>
          </a:p>
          <a:p>
            <a:pPr marL="0" indent="0" fontAlgn="base">
              <a:buNone/>
            </a:pPr>
            <a:r>
              <a:rPr lang="en-US" b="1" dirty="0" err="1"/>
              <a:t>B</a:t>
            </a:r>
            <a:r>
              <a:rPr lang="en-US" b="1" dirty="0" err="1" smtClean="0"/>
              <a:t>erikut</a:t>
            </a:r>
            <a:r>
              <a:rPr lang="en-US" b="1" dirty="0" smtClean="0"/>
              <a:t> </a:t>
            </a:r>
            <a:r>
              <a:rPr lang="en-US" b="1" dirty="0" err="1"/>
              <a:t>adalah</a:t>
            </a:r>
            <a:r>
              <a:rPr lang="en-US" b="1" dirty="0"/>
              <a:t> </a:t>
            </a:r>
            <a:r>
              <a:rPr lang="en-US" b="1" dirty="0" err="1"/>
              <a:t>contoh</a:t>
            </a:r>
            <a:r>
              <a:rPr lang="en-US" b="1" dirty="0"/>
              <a:t> </a:t>
            </a:r>
            <a:r>
              <a:rPr lang="en-US" b="1" dirty="0" err="1"/>
              <a:t>penulisan</a:t>
            </a:r>
            <a:r>
              <a:rPr lang="en-US" b="1" dirty="0"/>
              <a:t> </a:t>
            </a:r>
            <a:r>
              <a:rPr lang="en-US" b="1" dirty="0" err="1"/>
              <a:t>referensi</a:t>
            </a:r>
            <a:r>
              <a:rPr lang="en-US" b="1" dirty="0"/>
              <a:t> </a:t>
            </a:r>
            <a:r>
              <a:rPr lang="en-US" b="1" dirty="0" err="1" smtClean="0"/>
              <a:t>jurnal</a:t>
            </a:r>
            <a:r>
              <a:rPr lang="en-US" b="1" dirty="0" smtClean="0"/>
              <a:t>:</a:t>
            </a:r>
            <a:endParaRPr lang="en-US" b="1" dirty="0"/>
          </a:p>
          <a:p>
            <a:pPr fontAlgn="base"/>
            <a:r>
              <a:rPr lang="en-US" dirty="0"/>
              <a:t>R.R. </a:t>
            </a:r>
            <a:r>
              <a:rPr lang="en-US" dirty="0" err="1"/>
              <a:t>Yager</a:t>
            </a:r>
            <a:r>
              <a:rPr lang="en-US" dirty="0"/>
              <a:t>, “Multiple objective decision-making using fuzzy sets,” </a:t>
            </a:r>
            <a:r>
              <a:rPr lang="en-US" i="1" dirty="0"/>
              <a:t>International Journal of Man-Machine Studies</a:t>
            </a:r>
            <a:r>
              <a:rPr lang="en-US" dirty="0"/>
              <a:t>, vol. 9, no. 4, pp.375-382, Jul. 1977</a:t>
            </a:r>
            <a:r>
              <a:rPr lang="en-US" dirty="0" smtClean="0"/>
              <a:t>.</a:t>
            </a:r>
          </a:p>
          <a:p>
            <a:pPr fontAlgn="base"/>
            <a:r>
              <a:rPr lang="en-US" dirty="0" smtClean="0"/>
              <a:t> </a:t>
            </a:r>
            <a:r>
              <a:rPr lang="en-US" dirty="0"/>
              <a:t>G. </a:t>
            </a:r>
            <a:r>
              <a:rPr lang="en-US" dirty="0" err="1"/>
              <a:t>Pevere</a:t>
            </a:r>
            <a:r>
              <a:rPr lang="en-US" dirty="0"/>
              <a:t>. “Infrared Nation.” The International Journal of Infrared Design, vol. </a:t>
            </a:r>
            <a:r>
              <a:rPr lang="nl-NL" dirty="0"/>
              <a:t>33, pp. 56-99, Jan. 1979.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31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err="1"/>
              <a:t>Penulisan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referensi</a:t>
            </a:r>
            <a:r>
              <a:rPr lang="en-ID" dirty="0"/>
              <a:t> </a:t>
            </a:r>
            <a:r>
              <a:rPr lang="en-ID" dirty="0" smtClean="0"/>
              <a:t>(</a:t>
            </a:r>
            <a:r>
              <a:rPr lang="en-ID" i="1" dirty="0" smtClean="0"/>
              <a:t>Proceeding/</a:t>
            </a:r>
            <a:r>
              <a:rPr lang="en-ID" dirty="0" smtClean="0"/>
              <a:t>seminar/workshop)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fontAlgn="base">
              <a:buNone/>
            </a:pPr>
            <a:r>
              <a:rPr lang="en-US" dirty="0"/>
              <a:t>[1] M. Mayer, presented at the 4th </a:t>
            </a:r>
            <a:r>
              <a:rPr lang="en-US" dirty="0" err="1"/>
              <a:t>Congr</a:t>
            </a:r>
            <a:r>
              <a:rPr lang="en-US" dirty="0"/>
              <a:t>. Permanent Magnets, Grenoble, France, Mar. 1995.</a:t>
            </a:r>
          </a:p>
          <a:p>
            <a:pPr marL="0" indent="0" fontAlgn="base">
              <a:buNone/>
            </a:pPr>
            <a:r>
              <a:rPr lang="en-US" dirty="0"/>
              <a:t>[2] J. G. </a:t>
            </a:r>
            <a:r>
              <a:rPr lang="en-US" dirty="0" err="1"/>
              <a:t>Kreifeldt</a:t>
            </a:r>
            <a:r>
              <a:rPr lang="en-US" dirty="0"/>
              <a:t>, “An analysis of surface-detected EMG as an amplitude-modulated noise,” presented at the 1989 Int. Conf. Medicine and Biological Engineering, Chicago, IL.</a:t>
            </a:r>
          </a:p>
          <a:p>
            <a:pPr marL="0" indent="0" fontAlgn="base">
              <a:buNone/>
            </a:pPr>
            <a:r>
              <a:rPr lang="en-US" dirty="0"/>
              <a:t>[3] G. W. </a:t>
            </a:r>
            <a:r>
              <a:rPr lang="en-US" dirty="0" err="1"/>
              <a:t>Juette</a:t>
            </a:r>
            <a:r>
              <a:rPr lang="en-US" dirty="0"/>
              <a:t> and L. E. </a:t>
            </a:r>
            <a:r>
              <a:rPr lang="en-US" dirty="0" err="1"/>
              <a:t>Zeffanella</a:t>
            </a:r>
            <a:r>
              <a:rPr lang="en-US" dirty="0"/>
              <a:t>, “Radio noise currents on short sections on bundle conductors,” presented at the IEEE Summer Power Meeting, Dallas, TX, June 22-27, 1990, Paper 90 SM 690-0 PWRS.</a:t>
            </a:r>
          </a:p>
          <a:p>
            <a:pPr marL="0" indent="0" fontAlgn="base">
              <a:buNone/>
            </a:pPr>
            <a:r>
              <a:rPr lang="en-US" dirty="0"/>
              <a:t>[4] J. </a:t>
            </a:r>
            <a:r>
              <a:rPr lang="en-US" dirty="0" err="1"/>
              <a:t>Arrillaga</a:t>
            </a:r>
            <a:r>
              <a:rPr lang="en-US" dirty="0"/>
              <a:t> and B. </a:t>
            </a:r>
            <a:r>
              <a:rPr lang="en-US" dirty="0" err="1"/>
              <a:t>Giessner</a:t>
            </a:r>
            <a:r>
              <a:rPr lang="en-US" dirty="0"/>
              <a:t>, “Limitation of short-circuit levels by means of HVDC links,” presented at the IEEE Summer Power Meeting, Los Angeles, CA, July 12–17, 1990, Paper 70 CP 637.</a:t>
            </a:r>
          </a:p>
          <a:p>
            <a:pPr marL="0" indent="0" fontAlgn="base">
              <a:buNone/>
            </a:pPr>
            <a:r>
              <a:rPr lang="en-US" dirty="0"/>
              <a:t>[5] K.-L. Wu, C.C. Aggarwal, and P.S. Yu, “Personalization with dynamic profiler,” in </a:t>
            </a:r>
            <a:r>
              <a:rPr lang="en-US" i="1" dirty="0"/>
              <a:t>Proceedings third international workshop on advanced issues of e-commerce and </a:t>
            </a:r>
            <a:r>
              <a:rPr lang="en-US" i="1" dirty="0" err="1"/>
              <a:t>webbased</a:t>
            </a:r>
            <a:r>
              <a:rPr lang="en-US" i="1" dirty="0"/>
              <a:t> information systems</a:t>
            </a:r>
            <a:r>
              <a:rPr lang="en-US" dirty="0"/>
              <a:t>, 2001, pp. 12-20.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0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err="1"/>
              <a:t>Penulisan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referensi</a:t>
            </a:r>
            <a:r>
              <a:rPr lang="en-ID" dirty="0"/>
              <a:t> </a:t>
            </a:r>
            <a:r>
              <a:rPr lang="en-ID" dirty="0" smtClean="0"/>
              <a:t>(</a:t>
            </a:r>
            <a:r>
              <a:rPr lang="en-ID" dirty="0" err="1" smtClean="0"/>
              <a:t>Dokumen</a:t>
            </a:r>
            <a:r>
              <a:rPr lang="en-ID" dirty="0" smtClean="0"/>
              <a:t> </a:t>
            </a:r>
            <a:r>
              <a:rPr lang="en-ID" dirty="0" err="1" smtClean="0"/>
              <a:t>elektronik</a:t>
            </a:r>
            <a:r>
              <a:rPr lang="en-ID" dirty="0" smtClean="0"/>
              <a:t>/internet)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463" y="2103120"/>
            <a:ext cx="11185741" cy="4204552"/>
          </a:xfrm>
        </p:spPr>
        <p:txBody>
          <a:bodyPr>
            <a:normAutofit fontScale="77500" lnSpcReduction="20000"/>
          </a:bodyPr>
          <a:lstStyle/>
          <a:p>
            <a:pPr marL="0" indent="0" fontAlgn="base">
              <a:buNone/>
            </a:pPr>
            <a:r>
              <a:rPr lang="en-US" b="1" dirty="0"/>
              <a:t>Webpage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J. Nielsen, “Ten Usability Heuristics,” 1994, Available: </a:t>
            </a:r>
            <a:r>
              <a:rPr lang="en-US" u="sng" dirty="0">
                <a:hlinkClick r:id="rId2"/>
              </a:rPr>
              <a:t>http://www.useit.com/papers/heuristic/heuristic_list.html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 err="1"/>
              <a:t>Dokumen</a:t>
            </a:r>
            <a:r>
              <a:rPr lang="en-US" b="1" dirty="0"/>
              <a:t> </a:t>
            </a:r>
            <a:r>
              <a:rPr lang="en-US" b="1" dirty="0" err="1"/>
              <a:t>dalam</a:t>
            </a:r>
            <a:r>
              <a:rPr lang="en-US" b="1" dirty="0"/>
              <a:t> website</a:t>
            </a:r>
            <a:br>
              <a:rPr lang="en-US" b="1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Microsoft Corporation, “Site management cycle,” 2003, Available: </a:t>
            </a:r>
            <a:r>
              <a:rPr lang="en-US" u="sng" dirty="0">
                <a:hlinkClick r:id="rId3"/>
              </a:rPr>
              <a:t>http://msdn.microsoft.com/library/en-us/comsrv2k/htm/cs_gs_concepts_ntqq.asp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 err="1"/>
              <a:t>Tulisan</a:t>
            </a:r>
            <a:r>
              <a:rPr lang="en-US" b="1" dirty="0"/>
              <a:t> </a:t>
            </a:r>
            <a:r>
              <a:rPr lang="en-US" b="1" dirty="0" err="1"/>
              <a:t>berita</a:t>
            </a:r>
            <a:r>
              <a:rPr lang="en-US" b="1" dirty="0"/>
              <a:t> </a:t>
            </a:r>
            <a:r>
              <a:rPr lang="en-US" b="1" dirty="0" err="1"/>
              <a:t>atau</a:t>
            </a:r>
            <a:r>
              <a:rPr lang="en-US" b="1" dirty="0"/>
              <a:t> </a:t>
            </a:r>
            <a:r>
              <a:rPr lang="en-US" b="1" dirty="0" err="1"/>
              <a:t>majalah</a:t>
            </a:r>
            <a:r>
              <a:rPr lang="en-US" b="1" dirty="0"/>
              <a:t> </a:t>
            </a:r>
            <a:r>
              <a:rPr lang="en-US" b="1" dirty="0" err="1"/>
              <a:t>elektronik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C. Sherman, “</a:t>
            </a:r>
            <a:r>
              <a:rPr lang="en-US" dirty="0" err="1"/>
              <a:t>Teoma</a:t>
            </a:r>
            <a:r>
              <a:rPr lang="en-US" dirty="0"/>
              <a:t> vs. Google, round two,” April 2, 2002, Available: </a:t>
            </a:r>
            <a:r>
              <a:rPr lang="en-US" u="sng" dirty="0">
                <a:hlinkClick r:id="rId4"/>
              </a:rPr>
              <a:t>http://searchenginewatch.com/searchday/02/sd0402-teoma.html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i="1" dirty="0"/>
              <a:t> E-Books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T. </a:t>
            </a:r>
            <a:r>
              <a:rPr lang="en-US" dirty="0" err="1"/>
              <a:t>Eckes</a:t>
            </a:r>
            <a:r>
              <a:rPr lang="en-US" dirty="0"/>
              <a:t>, </a:t>
            </a:r>
            <a:r>
              <a:rPr lang="en-US" i="1" dirty="0"/>
              <a:t>The Developmental Social Psychology of Gender</a:t>
            </a:r>
            <a:r>
              <a:rPr lang="en-US" dirty="0"/>
              <a:t>. Mahwah NJ: Lawrence Erlbaum, 2000. [E-book] Available: </a:t>
            </a:r>
            <a:r>
              <a:rPr lang="en-US" dirty="0" err="1"/>
              <a:t>netLibrary</a:t>
            </a:r>
            <a:r>
              <a:rPr lang="en-US" dirty="0"/>
              <a:t> e-book.</a:t>
            </a:r>
          </a:p>
          <a:p>
            <a:pPr marL="0" indent="0" fontAlgn="base">
              <a:buNone/>
            </a:pPr>
            <a:r>
              <a:rPr lang="en-US" b="1" i="1" dirty="0"/>
              <a:t>E-</a:t>
            </a:r>
            <a:r>
              <a:rPr lang="en-US" b="1" i="1" dirty="0" err="1"/>
              <a:t>Jurnal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A. </a:t>
            </a:r>
            <a:r>
              <a:rPr lang="en-US" dirty="0" err="1"/>
              <a:t>Holub</a:t>
            </a:r>
            <a:r>
              <a:rPr lang="en-US" dirty="0"/>
              <a:t>, “Is software engineering an oxymoron?” </a:t>
            </a:r>
            <a:r>
              <a:rPr lang="en-US" i="1" dirty="0"/>
              <a:t>Software Development Times</a:t>
            </a:r>
            <a:r>
              <a:rPr lang="en-US" dirty="0"/>
              <a:t>, p. 28+, March 2005. [Online]. Available: ProQuest, </a:t>
            </a:r>
            <a:r>
              <a:rPr lang="en-US" u="sng" dirty="0">
                <a:hlinkClick r:id="rId5"/>
              </a:rPr>
              <a:t>http://il.proquest.com</a:t>
            </a:r>
            <a:r>
              <a:rPr lang="en-US" dirty="0"/>
              <a:t>. [Accessed May 23, 2005].</a:t>
            </a:r>
          </a:p>
          <a:p>
            <a:pPr marL="0" indent="0" fontAlgn="base">
              <a:buNone/>
            </a:pPr>
            <a:r>
              <a:rPr lang="en-US" b="1" dirty="0" err="1"/>
              <a:t>Artikel</a:t>
            </a:r>
            <a:r>
              <a:rPr lang="en-US" b="1" dirty="0"/>
              <a:t> </a:t>
            </a:r>
            <a:r>
              <a:rPr lang="en-US" b="1" dirty="0" err="1"/>
              <a:t>dari</a:t>
            </a:r>
            <a:r>
              <a:rPr lang="en-US" b="1" dirty="0"/>
              <a:t> internet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C. Wilson-Clark, “Computers ranked as key literacy,” </a:t>
            </a:r>
            <a:r>
              <a:rPr lang="en-US" i="1" dirty="0"/>
              <a:t>The West Australian</a:t>
            </a:r>
            <a:r>
              <a:rPr lang="en-US" dirty="0"/>
              <a:t>, para. 3, March 29, 2004. [Online]. Available: </a:t>
            </a:r>
            <a:r>
              <a:rPr lang="en-US" u="sng" dirty="0">
                <a:hlinkClick r:id="rId6"/>
              </a:rPr>
              <a:t>http://www.thewest.com.au</a:t>
            </a:r>
            <a:r>
              <a:rPr lang="en-US" dirty="0"/>
              <a:t>. [Accessed Sept. 18, 2004].</a:t>
            </a:r>
          </a:p>
          <a:p>
            <a:pPr marL="0" indent="0" fontAlgn="base">
              <a:buNone/>
            </a:pPr>
            <a:r>
              <a:rPr lang="en-US" b="1" dirty="0"/>
              <a:t>E-Mail </a:t>
            </a:r>
            <a:r>
              <a:rPr lang="en-US" dirty="0"/>
              <a:t>S. H. Gold. (1995, Oct. 10). </a:t>
            </a:r>
            <a:r>
              <a:rPr lang="en-US" i="1" dirty="0"/>
              <a:t>Inter-Network Talk </a:t>
            </a:r>
            <a:r>
              <a:rPr lang="en-US" dirty="0"/>
              <a:t>[Online]. Available e-mail: COMSERVE@RPIECS Message: Get NETWORK TALK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95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smtClean="0"/>
              <a:t>APA </a:t>
            </a:r>
            <a:r>
              <a:rPr lang="en-ID" i="1" dirty="0" smtClean="0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494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 smtClean="0"/>
              <a:t>Tata </a:t>
            </a:r>
            <a:r>
              <a:rPr lang="en-ID" dirty="0" err="1" smtClean="0"/>
              <a:t>penulisan</a:t>
            </a:r>
            <a:r>
              <a:rPr lang="en-ID" dirty="0" smtClean="0"/>
              <a:t> </a:t>
            </a:r>
            <a:r>
              <a:rPr lang="en-ID" dirty="0" err="1" smtClean="0"/>
              <a:t>kutipan</a:t>
            </a:r>
            <a:r>
              <a:rPr lang="en-ID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i-FI" b="1" dirty="0"/>
              <a:t>1. Penulisan Kutipan Tidak Langsung</a:t>
            </a:r>
          </a:p>
          <a:p>
            <a:pPr marL="0" indent="0">
              <a:buNone/>
            </a:pPr>
            <a:r>
              <a:rPr lang="en-US" dirty="0" err="1"/>
              <a:t>Pada</a:t>
            </a:r>
            <a:r>
              <a:rPr lang="en-US" dirty="0"/>
              <a:t> format APA, </a:t>
            </a:r>
            <a:r>
              <a:rPr lang="en-US" dirty="0" err="1"/>
              <a:t>kutipan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dituliskan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kalimat</a:t>
            </a:r>
            <a:r>
              <a:rPr lang="en-US" dirty="0"/>
              <a:t>/</a:t>
            </a:r>
            <a:r>
              <a:rPr lang="en-US" dirty="0" err="1"/>
              <a:t>teks</a:t>
            </a:r>
            <a:r>
              <a:rPr lang="en-US" dirty="0"/>
              <a:t> </a:t>
            </a:r>
            <a:r>
              <a:rPr lang="en-US" dirty="0" err="1" smtClean="0"/>
              <a:t>dengan</a:t>
            </a:r>
            <a:r>
              <a:rPr lang="en-US" dirty="0"/>
              <a:t> </a:t>
            </a:r>
            <a:r>
              <a:rPr lang="en-US" dirty="0" err="1" smtClean="0"/>
              <a:t>mencantumkan</a:t>
            </a:r>
            <a:r>
              <a:rPr lang="en-US" dirty="0" smtClean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pengarang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err="1"/>
              <a:t>penerbitan</a:t>
            </a:r>
            <a:r>
              <a:rPr lang="en-US" dirty="0"/>
              <a:t>,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menuliskan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 smtClean="0"/>
              <a:t>karya</a:t>
            </a:r>
            <a:r>
              <a:rPr lang="en-US" dirty="0"/>
              <a:t> </a:t>
            </a:r>
            <a:r>
              <a:rPr lang="en-US" dirty="0" smtClean="0"/>
              <a:t>yang </a:t>
            </a:r>
            <a:r>
              <a:rPr lang="en-US" dirty="0" err="1"/>
              <a:t>dikutip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sv-SE" b="1" dirty="0"/>
              <a:t>Nama penulis disebutkan dalam kalimat</a:t>
            </a:r>
          </a:p>
          <a:p>
            <a:r>
              <a:rPr lang="en-US" dirty="0"/>
              <a:t>Jones (1998) compared student performance ...</a:t>
            </a:r>
          </a:p>
          <a:p>
            <a:r>
              <a:rPr lang="en-US" dirty="0"/>
              <a:t>In 1998, Jones compared student performance ...</a:t>
            </a:r>
          </a:p>
          <a:p>
            <a:pPr marL="0" indent="0">
              <a:buNone/>
            </a:pPr>
            <a:r>
              <a:rPr lang="en-US" b="1" dirty="0"/>
              <a:t>Nama </a:t>
            </a:r>
            <a:r>
              <a:rPr lang="en-US" b="1" dirty="0" err="1"/>
              <a:t>penulis</a:t>
            </a:r>
            <a:r>
              <a:rPr lang="en-US" b="1" dirty="0"/>
              <a:t> </a:t>
            </a:r>
            <a:r>
              <a:rPr lang="en-US" b="1" dirty="0" err="1"/>
              <a:t>tidak</a:t>
            </a:r>
            <a:r>
              <a:rPr lang="en-US" b="1" dirty="0"/>
              <a:t> </a:t>
            </a:r>
            <a:r>
              <a:rPr lang="en-US" b="1" dirty="0" err="1"/>
              <a:t>disebutkan</a:t>
            </a:r>
            <a:r>
              <a:rPr lang="en-US" b="1" dirty="0"/>
              <a:t>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kalimat</a:t>
            </a:r>
            <a:endParaRPr lang="en-US" b="1" dirty="0"/>
          </a:p>
          <a:p>
            <a:r>
              <a:rPr lang="en-US" dirty="0"/>
              <a:t>In a recent study of student performance (Jones, 1998), 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91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31" y="257003"/>
            <a:ext cx="10058400" cy="1371600"/>
          </a:xfrm>
        </p:spPr>
        <p:txBody>
          <a:bodyPr>
            <a:normAutofit/>
          </a:bodyPr>
          <a:lstStyle/>
          <a:p>
            <a:r>
              <a:rPr lang="en-ID" dirty="0" smtClean="0"/>
              <a:t>Tata </a:t>
            </a:r>
            <a:r>
              <a:rPr lang="en-ID" dirty="0" err="1" smtClean="0"/>
              <a:t>penulisan</a:t>
            </a:r>
            <a:r>
              <a:rPr lang="en-ID" dirty="0" smtClean="0"/>
              <a:t> </a:t>
            </a:r>
            <a:r>
              <a:rPr lang="en-ID" dirty="0" err="1" smtClean="0"/>
              <a:t>kutipan</a:t>
            </a:r>
            <a:r>
              <a:rPr lang="en-ID" dirty="0" smtClean="0"/>
              <a:t>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31345"/>
            <a:ext cx="10058400" cy="464911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i-FI" b="1" dirty="0"/>
              <a:t>2</a:t>
            </a:r>
            <a:r>
              <a:rPr lang="fi-FI" b="1" dirty="0" smtClean="0"/>
              <a:t>. </a:t>
            </a:r>
            <a:r>
              <a:rPr lang="fi-FI" b="1" dirty="0"/>
              <a:t>Penulisan </a:t>
            </a:r>
            <a:r>
              <a:rPr lang="fi-FI" b="1" dirty="0" smtClean="0"/>
              <a:t>Kutipan Langsung</a:t>
            </a:r>
            <a:endParaRPr lang="en-US" b="1" dirty="0" smtClean="0"/>
          </a:p>
          <a:p>
            <a:pPr marL="0" indent="0">
              <a:buNone/>
            </a:pPr>
            <a:r>
              <a:rPr lang="en-US" dirty="0" err="1" smtClean="0"/>
              <a:t>Kutipan</a:t>
            </a:r>
            <a:r>
              <a:rPr lang="en-US" dirty="0" smtClean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format APA </a:t>
            </a:r>
            <a:r>
              <a:rPr lang="en-US" dirty="0" err="1"/>
              <a:t>ditulis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menyebutkan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pengarang</a:t>
            </a:r>
            <a:r>
              <a:rPr lang="en-US" dirty="0"/>
              <a:t>, </a:t>
            </a:r>
            <a:r>
              <a:rPr lang="en-US" dirty="0" err="1" smtClean="0"/>
              <a:t>tahun</a:t>
            </a:r>
            <a:r>
              <a:rPr lang="en-US" dirty="0"/>
              <a:t> </a:t>
            </a:r>
            <a:r>
              <a:rPr lang="en-US" dirty="0" err="1" smtClean="0"/>
              <a:t>terbit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kalimat</a:t>
            </a:r>
            <a:r>
              <a:rPr lang="en-US" dirty="0"/>
              <a:t>/</a:t>
            </a:r>
            <a:r>
              <a:rPr lang="en-US" dirty="0" err="1"/>
              <a:t>teks</a:t>
            </a:r>
            <a:r>
              <a:rPr lang="en-US" dirty="0"/>
              <a:t> yang </a:t>
            </a:r>
            <a:r>
              <a:rPr lang="en-US" dirty="0" err="1"/>
              <a:t>dikutip</a:t>
            </a:r>
            <a:r>
              <a:rPr lang="en-US" dirty="0"/>
              <a:t>. </a:t>
            </a:r>
            <a:r>
              <a:rPr lang="en-US" dirty="0" err="1"/>
              <a:t>Kutipan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dibedakan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 smtClean="0"/>
              <a:t>dua</a:t>
            </a:r>
            <a:r>
              <a:rPr lang="en-US" dirty="0" smtClean="0"/>
              <a:t> </a:t>
            </a:r>
            <a:r>
              <a:rPr lang="en-US" dirty="0" err="1" smtClean="0"/>
              <a:t>jenis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kutipan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pendek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kutipan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panjang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Kutipan</a:t>
            </a:r>
            <a:r>
              <a:rPr lang="en-US" b="1" dirty="0"/>
              <a:t> </a:t>
            </a:r>
            <a:r>
              <a:rPr lang="en-US" b="1" dirty="0" err="1"/>
              <a:t>langsung</a:t>
            </a:r>
            <a:r>
              <a:rPr lang="en-US" b="1" dirty="0"/>
              <a:t> </a:t>
            </a:r>
            <a:r>
              <a:rPr lang="en-US" b="1" dirty="0" err="1"/>
              <a:t>pendek</a:t>
            </a:r>
            <a:endParaRPr lang="en-US" b="1" dirty="0"/>
          </a:p>
          <a:p>
            <a:r>
              <a:rPr lang="en-US" dirty="0" err="1"/>
              <a:t>Kutipan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pendek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kalimat</a:t>
            </a:r>
            <a:r>
              <a:rPr lang="en-US" dirty="0"/>
              <a:t> yang </a:t>
            </a:r>
            <a:r>
              <a:rPr lang="en-US" dirty="0" err="1"/>
              <a:t>dikutip</a:t>
            </a:r>
            <a:r>
              <a:rPr lang="en-US" dirty="0"/>
              <a:t>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40 kata.</a:t>
            </a:r>
          </a:p>
          <a:p>
            <a:r>
              <a:rPr lang="en-US" dirty="0" err="1"/>
              <a:t>Kutipan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pendek</a:t>
            </a:r>
            <a:r>
              <a:rPr lang="en-US" dirty="0"/>
              <a:t> </a:t>
            </a:r>
            <a:r>
              <a:rPr lang="en-US" dirty="0" err="1"/>
              <a:t>dituliskan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petik</a:t>
            </a:r>
            <a:r>
              <a:rPr lang="en-US" dirty="0"/>
              <a:t> di </a:t>
            </a:r>
            <a:r>
              <a:rPr lang="en-US" dirty="0" err="1"/>
              <a:t>awal</a:t>
            </a:r>
            <a:r>
              <a:rPr lang="en-US" dirty="0"/>
              <a:t> </a:t>
            </a:r>
            <a:r>
              <a:rPr lang="en-US" dirty="0" err="1" smtClean="0"/>
              <a:t>dan</a:t>
            </a:r>
            <a:r>
              <a:rPr lang="en-US" dirty="0"/>
              <a:t> </a:t>
            </a:r>
            <a:r>
              <a:rPr lang="en-US" dirty="0" smtClean="0"/>
              <a:t>di </a:t>
            </a:r>
            <a:r>
              <a:rPr lang="en-US" dirty="0" err="1"/>
              <a:t>akhir</a:t>
            </a:r>
            <a:r>
              <a:rPr lang="en-US" dirty="0"/>
              <a:t> </a:t>
            </a:r>
            <a:r>
              <a:rPr lang="en-US" dirty="0" err="1"/>
              <a:t>kutipan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Nama </a:t>
            </a:r>
            <a:r>
              <a:rPr lang="en-US" b="1" dirty="0" err="1"/>
              <a:t>penulis</a:t>
            </a:r>
            <a:r>
              <a:rPr lang="en-US" b="1" dirty="0"/>
              <a:t> </a:t>
            </a:r>
            <a:r>
              <a:rPr lang="en-US" b="1" dirty="0" err="1"/>
              <a:t>tidak</a:t>
            </a:r>
            <a:r>
              <a:rPr lang="en-US" b="1" dirty="0"/>
              <a:t> </a:t>
            </a:r>
            <a:r>
              <a:rPr lang="en-US" b="1" dirty="0" err="1"/>
              <a:t>disebutkan</a:t>
            </a:r>
            <a:r>
              <a:rPr lang="en-US" b="1" dirty="0"/>
              <a:t>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kalimat</a:t>
            </a:r>
            <a:endParaRPr lang="en-US" b="1" dirty="0"/>
          </a:p>
          <a:p>
            <a:r>
              <a:rPr lang="en-US" dirty="0"/>
              <a:t>She stated, "Students often had difficulty using APA style," (Jones, 1998, p. 199), but </a:t>
            </a:r>
            <a:r>
              <a:rPr lang="en-US" dirty="0" smtClean="0"/>
              <a:t>she did </a:t>
            </a:r>
            <a:r>
              <a:rPr lang="en-US" dirty="0"/>
              <a:t>not offer an explanation as to why.</a:t>
            </a:r>
          </a:p>
          <a:p>
            <a:pPr marL="0" indent="0">
              <a:buNone/>
            </a:pPr>
            <a:r>
              <a:rPr lang="sv-SE" b="1" dirty="0"/>
              <a:t>Nama penulis disebutkan dalam kalimat</a:t>
            </a:r>
          </a:p>
          <a:p>
            <a:r>
              <a:rPr lang="en-US" dirty="0"/>
              <a:t>According to Jones (1998), "Students often had </a:t>
            </a:r>
            <a:r>
              <a:rPr lang="en-US" dirty="0" err="1"/>
              <a:t>dificulty</a:t>
            </a:r>
            <a:r>
              <a:rPr lang="en-US" dirty="0"/>
              <a:t> using APA style, </a:t>
            </a:r>
            <a:r>
              <a:rPr lang="en-US" dirty="0" smtClean="0"/>
              <a:t>especially when </a:t>
            </a:r>
            <a:r>
              <a:rPr lang="en-US" dirty="0"/>
              <a:t>it was their first time" (p. 199).</a:t>
            </a:r>
          </a:p>
          <a:p>
            <a:r>
              <a:rPr lang="en-US" dirty="0"/>
              <a:t>Jones (1998) found "students often had difficulty using APA style" (p. 199); </a:t>
            </a:r>
            <a:r>
              <a:rPr lang="en-US" dirty="0" smtClean="0"/>
              <a:t>what implications </a:t>
            </a:r>
            <a:r>
              <a:rPr lang="en-US" dirty="0"/>
              <a:t>does this have for teachers?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00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Tata </a:t>
            </a:r>
            <a:r>
              <a:rPr lang="en-ID" dirty="0" err="1"/>
              <a:t>penulisan</a:t>
            </a:r>
            <a:r>
              <a:rPr lang="en-ID" dirty="0"/>
              <a:t> </a:t>
            </a:r>
            <a:r>
              <a:rPr lang="en-ID" dirty="0" err="1"/>
              <a:t>kutipan</a:t>
            </a:r>
            <a:r>
              <a:rPr lang="en-ID" dirty="0"/>
              <a:t>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 smtClean="0"/>
              <a:t>Karya</a:t>
            </a:r>
            <a:r>
              <a:rPr lang="en-US" b="1" dirty="0" smtClean="0"/>
              <a:t> </a:t>
            </a:r>
            <a:r>
              <a:rPr lang="en-US" b="1" dirty="0" err="1"/>
              <a:t>dengan</a:t>
            </a:r>
            <a:r>
              <a:rPr lang="en-US" b="1" dirty="0"/>
              <a:t> 2 </a:t>
            </a:r>
            <a:r>
              <a:rPr lang="en-US" b="1" dirty="0" err="1"/>
              <a:t>sampai</a:t>
            </a:r>
            <a:r>
              <a:rPr lang="en-US" b="1" dirty="0"/>
              <a:t> 6 </a:t>
            </a:r>
            <a:r>
              <a:rPr lang="en-US" b="1" dirty="0" err="1"/>
              <a:t>penulis</a:t>
            </a:r>
            <a:endParaRPr lang="en-US" b="1" dirty="0"/>
          </a:p>
          <a:p>
            <a:r>
              <a:rPr lang="sv-SE" i="1" dirty="0"/>
              <a:t>Nama keluarga/nama belakang penulis disebutkan semua.</a:t>
            </a:r>
          </a:p>
          <a:p>
            <a:r>
              <a:rPr lang="en-US" dirty="0"/>
              <a:t>Richards, Jones and Moore (1998) maintain that college students who actively </a:t>
            </a:r>
            <a:r>
              <a:rPr lang="en-US" dirty="0" smtClean="0"/>
              <a:t>participate in </a:t>
            </a:r>
            <a:r>
              <a:rPr lang="en-US" dirty="0"/>
              <a:t>extracurricular activities achieve greater academic excellence because they learn </a:t>
            </a:r>
            <a:r>
              <a:rPr lang="en-US" dirty="0" smtClean="0"/>
              <a:t>how to </a:t>
            </a:r>
            <a:r>
              <a:rPr lang="en-US" dirty="0"/>
              <a:t>manage their time more effectively.</a:t>
            </a:r>
          </a:p>
          <a:p>
            <a:pPr marL="0" indent="0">
              <a:buNone/>
            </a:pPr>
            <a:r>
              <a:rPr lang="en-US" i="1" dirty="0" err="1"/>
              <a:t>atau</a:t>
            </a:r>
            <a:endParaRPr lang="en-US" i="1" dirty="0"/>
          </a:p>
          <a:p>
            <a:r>
              <a:rPr lang="en-US" dirty="0"/>
              <a:t>The authors maintain that college students who actively participate in </a:t>
            </a:r>
            <a:r>
              <a:rPr lang="en-US" dirty="0" smtClean="0"/>
              <a:t>extracurricular activities </a:t>
            </a:r>
            <a:r>
              <a:rPr lang="en-US" dirty="0"/>
              <a:t>achieve greater academic excellence because they learn how to manage </a:t>
            </a:r>
            <a:r>
              <a:rPr lang="en-US" dirty="0" smtClean="0"/>
              <a:t>their time </a:t>
            </a:r>
            <a:r>
              <a:rPr lang="en-US" dirty="0"/>
              <a:t>more effectively (Richards, Jones, &amp; Moore, 1998).</a:t>
            </a:r>
          </a:p>
          <a:p>
            <a:pPr marL="0" indent="0">
              <a:buNone/>
            </a:pPr>
            <a:r>
              <a:rPr lang="en-US" b="1" dirty="0" err="1"/>
              <a:t>Karya</a:t>
            </a:r>
            <a:r>
              <a:rPr lang="en-US" b="1" dirty="0"/>
              <a:t> </a:t>
            </a:r>
            <a:r>
              <a:rPr lang="en-US" b="1" dirty="0" err="1"/>
              <a:t>lebih</a:t>
            </a:r>
            <a:r>
              <a:rPr lang="en-US" b="1" dirty="0"/>
              <a:t> </a:t>
            </a:r>
            <a:r>
              <a:rPr lang="en-US" b="1" dirty="0" err="1"/>
              <a:t>dari</a:t>
            </a:r>
            <a:r>
              <a:rPr lang="en-US" b="1" dirty="0"/>
              <a:t> 6 </a:t>
            </a:r>
            <a:r>
              <a:rPr lang="en-US" b="1" dirty="0" err="1"/>
              <a:t>penulis</a:t>
            </a:r>
            <a:endParaRPr lang="en-US" b="1" dirty="0"/>
          </a:p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karya</a:t>
            </a:r>
            <a:r>
              <a:rPr lang="en-US" dirty="0"/>
              <a:t> yang </a:t>
            </a:r>
            <a:r>
              <a:rPr lang="en-US" dirty="0" err="1"/>
              <a:t>dikutip</a:t>
            </a:r>
            <a:r>
              <a:rPr lang="en-US" dirty="0"/>
              <a:t> </a:t>
            </a:r>
            <a:r>
              <a:rPr lang="en-US" dirty="0" err="1"/>
              <a:t>ditulis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6 </a:t>
            </a:r>
            <a:r>
              <a:rPr lang="en-US" dirty="0" err="1"/>
              <a:t>pengarang</a:t>
            </a:r>
            <a:r>
              <a:rPr lang="en-US" dirty="0"/>
              <a:t>, yang </a:t>
            </a:r>
            <a:r>
              <a:rPr lang="en-US" dirty="0" err="1"/>
              <a:t>ditulis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 smtClean="0"/>
              <a:t>nama</a:t>
            </a:r>
            <a:r>
              <a:rPr lang="en-US" dirty="0"/>
              <a:t> </a:t>
            </a:r>
            <a:r>
              <a:rPr lang="en-US" dirty="0" err="1" smtClean="0"/>
              <a:t>keluarga</a:t>
            </a:r>
            <a:r>
              <a:rPr lang="en-US" dirty="0" smtClean="0"/>
              <a:t>/</a:t>
            </a:r>
            <a:r>
              <a:rPr lang="en-US" dirty="0" err="1" smtClean="0"/>
              <a:t>belakang</a:t>
            </a:r>
            <a:r>
              <a:rPr lang="en-US" dirty="0" smtClean="0"/>
              <a:t> </a:t>
            </a:r>
            <a:r>
              <a:rPr lang="en-US" dirty="0" err="1"/>
              <a:t>penulis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inisial</a:t>
            </a:r>
            <a:r>
              <a:rPr lang="en-US" dirty="0"/>
              <a:t> et al.</a:t>
            </a:r>
          </a:p>
          <a:p>
            <a:r>
              <a:rPr lang="en-US" dirty="0"/>
              <a:t>Massachusetts state and municipal governments have initiated several programs </a:t>
            </a:r>
            <a:r>
              <a:rPr lang="en-US" dirty="0" smtClean="0"/>
              <a:t>to improve </a:t>
            </a:r>
            <a:r>
              <a:rPr lang="en-US" dirty="0"/>
              <a:t>public safety, including community policing and after school activities (Smith </a:t>
            </a:r>
            <a:r>
              <a:rPr lang="en-US" dirty="0" smtClean="0"/>
              <a:t>et a1</a:t>
            </a:r>
            <a:r>
              <a:rPr lang="en-US" dirty="0"/>
              <a:t>., 1997).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79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36014"/>
            <a:ext cx="10058400" cy="1371600"/>
          </a:xfrm>
        </p:spPr>
        <p:txBody>
          <a:bodyPr/>
          <a:lstStyle/>
          <a:p>
            <a:r>
              <a:rPr lang="en-ID" dirty="0"/>
              <a:t>Tata </a:t>
            </a:r>
            <a:r>
              <a:rPr lang="en-ID" dirty="0" err="1"/>
              <a:t>penulisan</a:t>
            </a:r>
            <a:r>
              <a:rPr lang="en-ID" dirty="0"/>
              <a:t> </a:t>
            </a:r>
            <a:r>
              <a:rPr lang="en-ID" dirty="0" err="1"/>
              <a:t>kutipan</a:t>
            </a:r>
            <a:r>
              <a:rPr lang="en-ID" dirty="0"/>
              <a:t>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097" y="1707614"/>
            <a:ext cx="10752462" cy="474827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Tidak</a:t>
            </a:r>
            <a:r>
              <a:rPr lang="en-US" b="1" dirty="0"/>
              <a:t> </a:t>
            </a:r>
            <a:r>
              <a:rPr lang="en-US" b="1" dirty="0" err="1"/>
              <a:t>ada</a:t>
            </a:r>
            <a:r>
              <a:rPr lang="en-US" b="1" dirty="0"/>
              <a:t> </a:t>
            </a:r>
            <a:r>
              <a:rPr lang="en-US" b="1" dirty="0" err="1"/>
              <a:t>nama</a:t>
            </a:r>
            <a:r>
              <a:rPr lang="en-US" b="1" dirty="0"/>
              <a:t> </a:t>
            </a:r>
            <a:r>
              <a:rPr lang="en-US" b="1" dirty="0" err="1"/>
              <a:t>penulis</a:t>
            </a:r>
            <a:endParaRPr lang="en-US" b="1" dirty="0"/>
          </a:p>
          <a:p>
            <a:r>
              <a:rPr lang="fi-FI" i="1" dirty="0"/>
              <a:t>Jika tidak ada nama penulis, tuliskan 1 atau 2 kata pertama dari judul </a:t>
            </a:r>
            <a:r>
              <a:rPr lang="fi-FI" i="1" dirty="0" smtClean="0"/>
              <a:t>buku/halaman </a:t>
            </a:r>
            <a:r>
              <a:rPr lang="en-US" i="1" dirty="0" smtClean="0"/>
              <a:t>web</a:t>
            </a:r>
            <a:r>
              <a:rPr lang="en-US" i="1" dirty="0"/>
              <a:t>. </a:t>
            </a:r>
            <a:r>
              <a:rPr lang="en-US" i="1" dirty="0" err="1"/>
              <a:t>Jika</a:t>
            </a:r>
            <a:r>
              <a:rPr lang="en-US" i="1" dirty="0"/>
              <a:t> </a:t>
            </a:r>
            <a:r>
              <a:rPr lang="en-US" i="1" dirty="0" err="1"/>
              <a:t>mengutip</a:t>
            </a:r>
            <a:r>
              <a:rPr lang="en-US" i="1" dirty="0"/>
              <a:t> </a:t>
            </a:r>
            <a:r>
              <a:rPr lang="en-US" i="1" dirty="0" err="1"/>
              <a:t>dari</a:t>
            </a:r>
            <a:r>
              <a:rPr lang="en-US" i="1" dirty="0"/>
              <a:t> </a:t>
            </a:r>
            <a:r>
              <a:rPr lang="en-US" i="1" dirty="0" err="1"/>
              <a:t>buku</a:t>
            </a:r>
            <a:r>
              <a:rPr lang="en-US" i="1" dirty="0"/>
              <a:t> </a:t>
            </a:r>
            <a:r>
              <a:rPr lang="en-US" i="1" dirty="0" err="1"/>
              <a:t>atau</a:t>
            </a:r>
            <a:r>
              <a:rPr lang="en-US" i="1" dirty="0"/>
              <a:t> website, </a:t>
            </a:r>
            <a:r>
              <a:rPr lang="en-US" i="1" dirty="0" err="1"/>
              <a:t>judul</a:t>
            </a:r>
            <a:r>
              <a:rPr lang="en-US" i="1" dirty="0"/>
              <a:t> </a:t>
            </a:r>
            <a:r>
              <a:rPr lang="en-US" i="1" dirty="0" err="1"/>
              <a:t>ditulis</a:t>
            </a:r>
            <a:r>
              <a:rPr lang="en-US" i="1" dirty="0"/>
              <a:t> </a:t>
            </a:r>
            <a:r>
              <a:rPr lang="en-US" i="1" dirty="0" err="1"/>
              <a:t>dalam</a:t>
            </a:r>
            <a:r>
              <a:rPr lang="en-US" i="1" dirty="0"/>
              <a:t> </a:t>
            </a:r>
            <a:r>
              <a:rPr lang="en-US" i="1" dirty="0" err="1"/>
              <a:t>cetak</a:t>
            </a:r>
            <a:r>
              <a:rPr lang="en-US" i="1" dirty="0"/>
              <a:t> miring. </a:t>
            </a:r>
            <a:r>
              <a:rPr lang="en-US" i="1" dirty="0" err="1" smtClean="0"/>
              <a:t>Jika</a:t>
            </a:r>
            <a:r>
              <a:rPr lang="en-US" i="1" dirty="0"/>
              <a:t> </a:t>
            </a:r>
            <a:r>
              <a:rPr lang="en-US" i="1" dirty="0" err="1" smtClean="0"/>
              <a:t>mengutip</a:t>
            </a:r>
            <a:r>
              <a:rPr lang="en-US" i="1" dirty="0" smtClean="0"/>
              <a:t> </a:t>
            </a:r>
            <a:r>
              <a:rPr lang="en-US" i="1" dirty="0" err="1"/>
              <a:t>dari</a:t>
            </a:r>
            <a:r>
              <a:rPr lang="en-US" i="1" dirty="0"/>
              <a:t> </a:t>
            </a:r>
            <a:r>
              <a:rPr lang="en-US" i="1" dirty="0" err="1"/>
              <a:t>artikel</a:t>
            </a:r>
            <a:r>
              <a:rPr lang="en-US" i="1" dirty="0"/>
              <a:t> </a:t>
            </a:r>
            <a:r>
              <a:rPr lang="en-US" i="1" dirty="0" err="1"/>
              <a:t>jurnal</a:t>
            </a:r>
            <a:r>
              <a:rPr lang="en-US" i="1" dirty="0"/>
              <a:t>/</a:t>
            </a:r>
            <a:r>
              <a:rPr lang="en-US" i="1" dirty="0" err="1"/>
              <a:t>majalah</a:t>
            </a:r>
            <a:r>
              <a:rPr lang="en-US" i="1" dirty="0"/>
              <a:t>/</a:t>
            </a:r>
            <a:r>
              <a:rPr lang="en-US" i="1" dirty="0" err="1"/>
              <a:t>surat</a:t>
            </a:r>
            <a:r>
              <a:rPr lang="en-US" i="1" dirty="0"/>
              <a:t> </a:t>
            </a:r>
            <a:r>
              <a:rPr lang="en-US" i="1" dirty="0" err="1"/>
              <a:t>kabar</a:t>
            </a:r>
            <a:r>
              <a:rPr lang="en-US" i="1" dirty="0"/>
              <a:t>, </a:t>
            </a:r>
            <a:r>
              <a:rPr lang="en-US" i="1" dirty="0" err="1"/>
              <a:t>judul</a:t>
            </a:r>
            <a:r>
              <a:rPr lang="en-US" i="1" dirty="0"/>
              <a:t> </a:t>
            </a:r>
            <a:r>
              <a:rPr lang="en-US" i="1" dirty="0" err="1"/>
              <a:t>ditulis</a:t>
            </a:r>
            <a:r>
              <a:rPr lang="en-US" i="1" dirty="0"/>
              <a:t> </a:t>
            </a:r>
            <a:r>
              <a:rPr lang="en-US" i="1" dirty="0" err="1"/>
              <a:t>dalam</a:t>
            </a:r>
            <a:r>
              <a:rPr lang="en-US" i="1" dirty="0"/>
              <a:t> </a:t>
            </a:r>
            <a:r>
              <a:rPr lang="en-US" i="1" dirty="0" err="1"/>
              <a:t>huruf</a:t>
            </a:r>
            <a:r>
              <a:rPr lang="en-US" i="1" dirty="0"/>
              <a:t> </a:t>
            </a:r>
            <a:r>
              <a:rPr lang="en-US" i="1" dirty="0" err="1"/>
              <a:t>tegak</a:t>
            </a:r>
            <a:r>
              <a:rPr lang="en-US" i="1" dirty="0"/>
              <a:t> </a:t>
            </a:r>
            <a:r>
              <a:rPr lang="en-US" i="1" dirty="0" err="1" smtClean="0"/>
              <a:t>dengan</a:t>
            </a:r>
            <a:r>
              <a:rPr lang="en-US" i="1" dirty="0" smtClean="0"/>
              <a:t> </a:t>
            </a:r>
            <a:r>
              <a:rPr lang="en-US" i="1" dirty="0" err="1" smtClean="0"/>
              <a:t>memberi</a:t>
            </a:r>
            <a:r>
              <a:rPr lang="en-US" i="1" dirty="0" smtClean="0"/>
              <a:t> </a:t>
            </a:r>
            <a:r>
              <a:rPr lang="en-US" i="1" dirty="0" err="1"/>
              <a:t>tanda</a:t>
            </a:r>
            <a:r>
              <a:rPr lang="en-US" i="1" dirty="0"/>
              <a:t> </a:t>
            </a:r>
            <a:r>
              <a:rPr lang="en-US" i="1" dirty="0" err="1"/>
              <a:t>petik</a:t>
            </a:r>
            <a:r>
              <a:rPr lang="en-US" i="1" dirty="0"/>
              <a:t> di </a:t>
            </a:r>
            <a:r>
              <a:rPr lang="en-US" i="1" dirty="0" err="1"/>
              <a:t>awal</a:t>
            </a:r>
            <a:r>
              <a:rPr lang="en-US" i="1" dirty="0"/>
              <a:t> </a:t>
            </a:r>
            <a:r>
              <a:rPr lang="en-US" i="1" dirty="0" err="1"/>
              <a:t>dan</a:t>
            </a:r>
            <a:r>
              <a:rPr lang="en-US" i="1" dirty="0"/>
              <a:t> </a:t>
            </a:r>
            <a:r>
              <a:rPr lang="en-US" i="1" dirty="0" err="1"/>
              <a:t>akhir</a:t>
            </a:r>
            <a:r>
              <a:rPr lang="en-US" i="1" dirty="0"/>
              <a:t> </a:t>
            </a:r>
            <a:r>
              <a:rPr lang="en-US" i="1" dirty="0" err="1"/>
              <a:t>kutipan</a:t>
            </a:r>
            <a:r>
              <a:rPr lang="en-US" i="1" dirty="0"/>
              <a:t>.</a:t>
            </a:r>
          </a:p>
          <a:p>
            <a:r>
              <a:rPr lang="en-US" dirty="0"/>
              <a:t>Massachusetts state and municipal governments have initiated several programs </a:t>
            </a:r>
            <a:r>
              <a:rPr lang="en-US" dirty="0" smtClean="0"/>
              <a:t>to improve </a:t>
            </a:r>
            <a:r>
              <a:rPr lang="en-US" dirty="0"/>
              <a:t>public safety, including community policing and after school </a:t>
            </a:r>
            <a:r>
              <a:rPr lang="en-US" dirty="0" smtClean="0"/>
              <a:t>activities (</a:t>
            </a:r>
            <a:r>
              <a:rPr lang="en-US" i="1" dirty="0" smtClean="0"/>
              <a:t>Innovations</a:t>
            </a:r>
            <a:r>
              <a:rPr lang="en-US" dirty="0"/>
              <a:t>, 1997).</a:t>
            </a:r>
          </a:p>
          <a:p>
            <a:pPr marL="0" indent="0">
              <a:buNone/>
            </a:pPr>
            <a:r>
              <a:rPr lang="en-US" b="1" dirty="0" err="1"/>
              <a:t>Artikel</a:t>
            </a:r>
            <a:r>
              <a:rPr lang="en-US" b="1" dirty="0"/>
              <a:t> </a:t>
            </a:r>
            <a:r>
              <a:rPr lang="en-US" b="1" dirty="0" err="1"/>
              <a:t>tanpa</a:t>
            </a:r>
            <a:r>
              <a:rPr lang="en-US" b="1" dirty="0"/>
              <a:t> </a:t>
            </a:r>
            <a:r>
              <a:rPr lang="en-US" b="1" dirty="0" err="1"/>
              <a:t>nama</a:t>
            </a:r>
            <a:r>
              <a:rPr lang="en-US" b="1" dirty="0"/>
              <a:t> </a:t>
            </a:r>
            <a:r>
              <a:rPr lang="en-US" b="1" dirty="0" err="1"/>
              <a:t>penulis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tahun</a:t>
            </a:r>
            <a:r>
              <a:rPr lang="en-US" b="1" dirty="0"/>
              <a:t> </a:t>
            </a:r>
            <a:r>
              <a:rPr lang="en-US" b="1" dirty="0" err="1"/>
              <a:t>penerbitan</a:t>
            </a:r>
            <a:endParaRPr lang="en-US" b="1" dirty="0"/>
          </a:p>
          <a:p>
            <a:r>
              <a:rPr lang="en-US" dirty="0"/>
              <a:t>In another study of students and research decisions, it was discovered that </a:t>
            </a:r>
            <a:r>
              <a:rPr lang="en-US" dirty="0" smtClean="0"/>
              <a:t>students succeeded </a:t>
            </a:r>
            <a:r>
              <a:rPr lang="en-US" dirty="0"/>
              <a:t>with tutoring (“Tutoring and APA,” </a:t>
            </a:r>
            <a:r>
              <a:rPr lang="en-US" dirty="0" err="1"/>
              <a:t>n.d</a:t>
            </a:r>
            <a:r>
              <a:rPr lang="en-US" dirty="0" err="1" smtClean="0"/>
              <a:t>.</a:t>
            </a:r>
            <a:r>
              <a:rPr lang="en-US" dirty="0" smtClean="0"/>
              <a:t>). </a:t>
            </a:r>
            <a:r>
              <a:rPr lang="en-US" b="1" dirty="0" err="1" smtClean="0"/>
              <a:t>Catatan</a:t>
            </a:r>
            <a:r>
              <a:rPr lang="en-US" b="1" dirty="0"/>
              <a:t>: </a:t>
            </a:r>
            <a:r>
              <a:rPr lang="en-US" b="1" dirty="0" err="1"/>
              <a:t>n.d.</a:t>
            </a:r>
            <a:r>
              <a:rPr lang="en-US" b="1" dirty="0"/>
              <a:t> = no </a:t>
            </a:r>
            <a:r>
              <a:rPr lang="en-US" b="1" dirty="0" smtClean="0"/>
              <a:t>date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b="1" dirty="0" err="1" smtClean="0"/>
              <a:t>Lembaga</a:t>
            </a:r>
            <a:r>
              <a:rPr lang="en-US" b="1" dirty="0" smtClean="0"/>
              <a:t> </a:t>
            </a:r>
            <a:r>
              <a:rPr lang="en-US" b="1" dirty="0" err="1"/>
              <a:t>sebagai</a:t>
            </a:r>
            <a:r>
              <a:rPr lang="en-US" b="1" dirty="0"/>
              <a:t> </a:t>
            </a:r>
            <a:r>
              <a:rPr lang="en-US" b="1" dirty="0" err="1"/>
              <a:t>penulis</a:t>
            </a:r>
            <a:endParaRPr lang="en-US" b="1" dirty="0"/>
          </a:p>
          <a:p>
            <a:r>
              <a:rPr lang="en-US" dirty="0"/>
              <a:t>The standard performance measures were used in evaluating the system. (United </a:t>
            </a:r>
            <a:r>
              <a:rPr lang="en-US" dirty="0" smtClean="0"/>
              <a:t>States Department </a:t>
            </a:r>
            <a:r>
              <a:rPr lang="en-US" dirty="0"/>
              <a:t>of Transportation, Federal Aviation Administration, 1997)</a:t>
            </a:r>
          </a:p>
          <a:p>
            <a:pPr marL="0" indent="0">
              <a:buNone/>
            </a:pPr>
            <a:r>
              <a:rPr lang="en-US" b="1" dirty="0" err="1"/>
              <a:t>Komunikasi</a:t>
            </a:r>
            <a:r>
              <a:rPr lang="en-US" b="1" dirty="0"/>
              <a:t> </a:t>
            </a:r>
            <a:r>
              <a:rPr lang="en-US" b="1" dirty="0" err="1"/>
              <a:t>melalui</a:t>
            </a:r>
            <a:r>
              <a:rPr lang="en-US" b="1" dirty="0"/>
              <a:t> email</a:t>
            </a:r>
          </a:p>
          <a:p>
            <a:r>
              <a:rPr lang="en-US" dirty="0"/>
              <a:t>This information was verified a few days later (J. S. </a:t>
            </a:r>
            <a:r>
              <a:rPr lang="en-US" dirty="0" err="1"/>
              <a:t>Phinney</a:t>
            </a:r>
            <a:r>
              <a:rPr lang="en-US" dirty="0"/>
              <a:t>, personal </a:t>
            </a:r>
            <a:r>
              <a:rPr lang="en-US" dirty="0" smtClean="0"/>
              <a:t>communication, June </a:t>
            </a:r>
            <a:r>
              <a:rPr lang="en-US" dirty="0"/>
              <a:t>5, 1999).</a:t>
            </a:r>
          </a:p>
          <a:p>
            <a:r>
              <a:rPr lang="en-US" dirty="0"/>
              <a:t>…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disimpulkan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jurusan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diminati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siswa</a:t>
            </a:r>
            <a:r>
              <a:rPr lang="en-US" dirty="0"/>
              <a:t> </a:t>
            </a:r>
            <a:r>
              <a:rPr lang="en-US" dirty="0" err="1" smtClean="0"/>
              <a:t>perempuan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wawancara</a:t>
            </a:r>
            <a:r>
              <a:rPr lang="en-US" dirty="0" smtClean="0"/>
              <a:t> </a:t>
            </a:r>
            <a:r>
              <a:rPr lang="en-US" dirty="0" err="1"/>
              <a:t>dengan</a:t>
            </a:r>
            <a:r>
              <a:rPr lang="en-US" dirty="0"/>
              <a:t> Juliana </a:t>
            </a:r>
            <a:r>
              <a:rPr lang="en-US" dirty="0" err="1"/>
              <a:t>Anggono</a:t>
            </a:r>
            <a:r>
              <a:rPr lang="en-US" dirty="0"/>
              <a:t>, 5 </a:t>
            </a:r>
            <a:r>
              <a:rPr lang="en-US" dirty="0" err="1"/>
              <a:t>Januari</a:t>
            </a:r>
            <a:r>
              <a:rPr lang="en-US" dirty="0"/>
              <a:t> 1999).</a:t>
            </a:r>
          </a:p>
          <a:p>
            <a:pPr marL="0" indent="0">
              <a:buNone/>
            </a:pPr>
            <a:r>
              <a:rPr lang="en-US" b="1" dirty="0" err="1"/>
              <a:t>Mengutip</a:t>
            </a:r>
            <a:r>
              <a:rPr lang="en-US" b="1" dirty="0"/>
              <a:t> </a:t>
            </a:r>
            <a:r>
              <a:rPr lang="en-US" b="1" dirty="0" err="1"/>
              <a:t>dari</a:t>
            </a:r>
            <a:r>
              <a:rPr lang="en-US" b="1" dirty="0"/>
              <a:t> Website</a:t>
            </a:r>
          </a:p>
          <a:p>
            <a:r>
              <a:rPr lang="en-US" i="1" dirty="0" err="1"/>
              <a:t>Pada</a:t>
            </a:r>
            <a:r>
              <a:rPr lang="en-US" i="1" dirty="0"/>
              <a:t> </a:t>
            </a:r>
            <a:r>
              <a:rPr lang="en-US" i="1" dirty="0" err="1"/>
              <a:t>dasarnya</a:t>
            </a:r>
            <a:r>
              <a:rPr lang="en-US" i="1" dirty="0"/>
              <a:t> </a:t>
            </a:r>
            <a:r>
              <a:rPr lang="en-US" i="1" dirty="0" err="1"/>
              <a:t>mengutip</a:t>
            </a:r>
            <a:r>
              <a:rPr lang="en-US" i="1" dirty="0"/>
              <a:t> </a:t>
            </a:r>
            <a:r>
              <a:rPr lang="en-US" i="1" dirty="0" err="1"/>
              <a:t>dari</a:t>
            </a:r>
            <a:r>
              <a:rPr lang="en-US" i="1" dirty="0"/>
              <a:t> website </a:t>
            </a:r>
            <a:r>
              <a:rPr lang="en-US" i="1" dirty="0" err="1"/>
              <a:t>atau</a:t>
            </a:r>
            <a:r>
              <a:rPr lang="en-US" i="1" dirty="0"/>
              <a:t> </a:t>
            </a:r>
            <a:r>
              <a:rPr lang="en-US" i="1" dirty="0" err="1"/>
              <a:t>sumber</a:t>
            </a:r>
            <a:r>
              <a:rPr lang="en-US" i="1" dirty="0"/>
              <a:t> </a:t>
            </a:r>
            <a:r>
              <a:rPr lang="en-US" i="1" dirty="0" err="1"/>
              <a:t>elektronik</a:t>
            </a:r>
            <a:r>
              <a:rPr lang="en-US" i="1" dirty="0"/>
              <a:t> </a:t>
            </a:r>
            <a:r>
              <a:rPr lang="en-US" i="1" dirty="0" err="1"/>
              <a:t>sama</a:t>
            </a:r>
            <a:r>
              <a:rPr lang="en-US" i="1" dirty="0"/>
              <a:t> </a:t>
            </a:r>
            <a:r>
              <a:rPr lang="en-US" i="1" dirty="0" err="1"/>
              <a:t>dengan</a:t>
            </a:r>
            <a:r>
              <a:rPr lang="en-US" i="1" dirty="0"/>
              <a:t> </a:t>
            </a:r>
            <a:r>
              <a:rPr lang="en-US" i="1" dirty="0" err="1" smtClean="0"/>
              <a:t>mengutip</a:t>
            </a:r>
            <a:r>
              <a:rPr lang="en-US" i="1" dirty="0"/>
              <a:t> </a:t>
            </a:r>
            <a:r>
              <a:rPr lang="en-US" i="1" dirty="0" err="1" smtClean="0"/>
              <a:t>dari</a:t>
            </a:r>
            <a:r>
              <a:rPr lang="en-US" i="1" dirty="0" smtClean="0"/>
              <a:t> </a:t>
            </a:r>
            <a:r>
              <a:rPr lang="en-US" i="1" dirty="0" err="1"/>
              <a:t>sumber</a:t>
            </a:r>
            <a:r>
              <a:rPr lang="en-US" i="1" dirty="0"/>
              <a:t> </a:t>
            </a:r>
            <a:r>
              <a:rPr lang="en-US" i="1" dirty="0" err="1"/>
              <a:t>tercetak</a:t>
            </a:r>
            <a:r>
              <a:rPr lang="en-US" i="1" dirty="0"/>
              <a:t>. </a:t>
            </a:r>
            <a:r>
              <a:rPr lang="en-US" i="1" dirty="0" err="1"/>
              <a:t>Jika</a:t>
            </a:r>
            <a:r>
              <a:rPr lang="en-US" i="1" dirty="0"/>
              <a:t> </a:t>
            </a:r>
            <a:r>
              <a:rPr lang="en-US" i="1" dirty="0" err="1"/>
              <a:t>mengutip</a:t>
            </a:r>
            <a:r>
              <a:rPr lang="en-US" i="1" dirty="0"/>
              <a:t> </a:t>
            </a:r>
            <a:r>
              <a:rPr lang="en-US" i="1" dirty="0" err="1"/>
              <a:t>dari</a:t>
            </a:r>
            <a:r>
              <a:rPr lang="en-US" i="1" dirty="0"/>
              <a:t> website </a:t>
            </a:r>
            <a:r>
              <a:rPr lang="en-US" i="1" dirty="0" err="1"/>
              <a:t>atau</a:t>
            </a:r>
            <a:r>
              <a:rPr lang="en-US" i="1" dirty="0"/>
              <a:t> media </a:t>
            </a:r>
            <a:r>
              <a:rPr lang="en-US" i="1" dirty="0" err="1"/>
              <a:t>elektronik</a:t>
            </a:r>
            <a:r>
              <a:rPr lang="en-US" i="1" dirty="0"/>
              <a:t>, yang </a:t>
            </a:r>
            <a:r>
              <a:rPr lang="en-US" i="1" dirty="0" err="1" smtClean="0"/>
              <a:t>perlu</a:t>
            </a:r>
            <a:r>
              <a:rPr lang="en-US" i="1" dirty="0" smtClean="0"/>
              <a:t> </a:t>
            </a:r>
            <a:r>
              <a:rPr lang="en-US" i="1" dirty="0" err="1" smtClean="0"/>
              <a:t>dicantumkan</a:t>
            </a:r>
            <a:r>
              <a:rPr lang="en-US" i="1" dirty="0" smtClean="0"/>
              <a:t> </a:t>
            </a:r>
            <a:r>
              <a:rPr lang="en-US" i="1" dirty="0" err="1"/>
              <a:t>adalah</a:t>
            </a:r>
            <a:r>
              <a:rPr lang="en-US" i="1" dirty="0"/>
              <a:t> </a:t>
            </a:r>
            <a:r>
              <a:rPr lang="en-US" i="1" dirty="0" err="1"/>
              <a:t>nama</a:t>
            </a:r>
            <a:r>
              <a:rPr lang="en-US" i="1" dirty="0"/>
              <a:t> </a:t>
            </a:r>
            <a:r>
              <a:rPr lang="en-US" i="1" dirty="0" err="1"/>
              <a:t>penulis</a:t>
            </a:r>
            <a:r>
              <a:rPr lang="en-US" i="1" dirty="0"/>
              <a:t>, </a:t>
            </a:r>
            <a:r>
              <a:rPr lang="en-US" i="1" dirty="0" err="1"/>
              <a:t>tahun</a:t>
            </a:r>
            <a:r>
              <a:rPr lang="en-US" i="1" dirty="0"/>
              <a:t> </a:t>
            </a:r>
            <a:r>
              <a:rPr lang="en-US" i="1" dirty="0" err="1"/>
              <a:t>penerbitan</a:t>
            </a:r>
            <a:r>
              <a:rPr lang="en-US" i="1" dirty="0"/>
              <a:t>, </a:t>
            </a:r>
            <a:r>
              <a:rPr lang="en-US" i="1" dirty="0" err="1"/>
              <a:t>nomor</a:t>
            </a:r>
            <a:r>
              <a:rPr lang="en-US" i="1" dirty="0"/>
              <a:t> </a:t>
            </a:r>
            <a:r>
              <a:rPr lang="en-US" i="1" dirty="0" err="1"/>
              <a:t>halaman</a:t>
            </a:r>
            <a:r>
              <a:rPr lang="en-US" i="1" dirty="0"/>
              <a:t> (</a:t>
            </a:r>
            <a:r>
              <a:rPr lang="en-US" i="1" dirty="0" err="1"/>
              <a:t>untuk</a:t>
            </a:r>
            <a:r>
              <a:rPr lang="en-US" i="1" dirty="0"/>
              <a:t> </a:t>
            </a:r>
            <a:r>
              <a:rPr lang="en-US" i="1" dirty="0" err="1" smtClean="0"/>
              <a:t>kutipan</a:t>
            </a:r>
            <a:r>
              <a:rPr lang="en-US" i="1" dirty="0" smtClean="0"/>
              <a:t> </a:t>
            </a:r>
            <a:r>
              <a:rPr lang="en-US" i="1" dirty="0" err="1" smtClean="0"/>
              <a:t>langsung</a:t>
            </a:r>
            <a:r>
              <a:rPr lang="en-US" i="1" dirty="0"/>
              <a:t>) </a:t>
            </a:r>
            <a:r>
              <a:rPr lang="en-US" i="1" dirty="0" err="1"/>
              <a:t>atau</a:t>
            </a:r>
            <a:r>
              <a:rPr lang="en-US" i="1" dirty="0"/>
              <a:t> </a:t>
            </a:r>
            <a:r>
              <a:rPr lang="en-US" i="1" dirty="0" err="1"/>
              <a:t>jika</a:t>
            </a:r>
            <a:r>
              <a:rPr lang="en-US" i="1" dirty="0"/>
              <a:t> </a:t>
            </a:r>
            <a:r>
              <a:rPr lang="en-US" i="1" dirty="0" err="1"/>
              <a:t>tidak</a:t>
            </a:r>
            <a:r>
              <a:rPr lang="en-US" i="1" dirty="0"/>
              <a:t> </a:t>
            </a:r>
            <a:r>
              <a:rPr lang="en-US" i="1" dirty="0" err="1"/>
              <a:t>ada</a:t>
            </a:r>
            <a:r>
              <a:rPr lang="en-US" i="1" dirty="0"/>
              <a:t> </a:t>
            </a:r>
            <a:r>
              <a:rPr lang="en-US" i="1" dirty="0" err="1"/>
              <a:t>nomor</a:t>
            </a:r>
            <a:r>
              <a:rPr lang="en-US" i="1" dirty="0"/>
              <a:t> </a:t>
            </a:r>
            <a:r>
              <a:rPr lang="en-US" i="1" dirty="0" err="1"/>
              <a:t>halaman</a:t>
            </a:r>
            <a:r>
              <a:rPr lang="en-US" i="1" dirty="0"/>
              <a:t>, </a:t>
            </a:r>
            <a:r>
              <a:rPr lang="en-US" i="1" dirty="0" err="1"/>
              <a:t>sebutkan</a:t>
            </a:r>
            <a:r>
              <a:rPr lang="en-US" i="1" dirty="0"/>
              <a:t> </a:t>
            </a:r>
            <a:r>
              <a:rPr lang="en-US" i="1" dirty="0" err="1"/>
              <a:t>nomor</a:t>
            </a:r>
            <a:r>
              <a:rPr lang="en-US" i="1" dirty="0"/>
              <a:t> </a:t>
            </a:r>
            <a:r>
              <a:rPr lang="en-US" i="1" dirty="0" err="1"/>
              <a:t>bab</a:t>
            </a:r>
            <a:r>
              <a:rPr lang="en-US" i="1" dirty="0"/>
              <a:t> (chapter), </a:t>
            </a:r>
            <a:r>
              <a:rPr lang="en-US" i="1" dirty="0" err="1" smtClean="0"/>
              <a:t>nomor</a:t>
            </a:r>
            <a:r>
              <a:rPr lang="en-US" i="1" dirty="0" smtClean="0"/>
              <a:t> </a:t>
            </a:r>
            <a:r>
              <a:rPr lang="sv-SE" i="1" dirty="0" smtClean="0"/>
              <a:t>gambar</a:t>
            </a:r>
            <a:r>
              <a:rPr lang="sv-SE" i="1" dirty="0"/>
              <a:t>, tabel atau paragraf. Alamat website (URL) dan informasi lain dituliskan </a:t>
            </a:r>
            <a:r>
              <a:rPr lang="sv-SE" i="1" dirty="0" smtClean="0"/>
              <a:t>pada </a:t>
            </a:r>
            <a:r>
              <a:rPr lang="en-US" i="1" dirty="0" err="1" smtClean="0"/>
              <a:t>Daftar</a:t>
            </a:r>
            <a:r>
              <a:rPr lang="en-US" i="1" dirty="0" smtClean="0"/>
              <a:t> </a:t>
            </a:r>
            <a:r>
              <a:rPr lang="en-US" i="1" dirty="0" err="1"/>
              <a:t>Referensi</a:t>
            </a:r>
            <a:r>
              <a:rPr lang="en-US" i="1" dirty="0" smtClean="0"/>
              <a:t>.</a:t>
            </a:r>
            <a:endParaRPr lang="en-US" dirty="0"/>
          </a:p>
          <a:p>
            <a:r>
              <a:rPr lang="nl-NL" dirty="0"/>
              <a:t>(Cheek &amp; Buss, 1981, p. 332)</a:t>
            </a:r>
          </a:p>
          <a:p>
            <a:r>
              <a:rPr lang="en-US" dirty="0"/>
              <a:t>(</a:t>
            </a:r>
            <a:r>
              <a:rPr lang="en-US" dirty="0" err="1"/>
              <a:t>Shimamura</a:t>
            </a:r>
            <a:r>
              <a:rPr lang="en-US" dirty="0"/>
              <a:t>, 1989, chap. 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43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01071"/>
            <a:ext cx="10058400" cy="1371600"/>
          </a:xfrm>
        </p:spPr>
        <p:txBody>
          <a:bodyPr/>
          <a:lstStyle/>
          <a:p>
            <a:r>
              <a:rPr lang="en-ID" dirty="0" err="1" smtClean="0"/>
              <a:t>Penulisan</a:t>
            </a:r>
            <a:r>
              <a:rPr lang="en-ID" dirty="0" smtClean="0"/>
              <a:t> </a:t>
            </a:r>
            <a:r>
              <a:rPr lang="en-ID" dirty="0" err="1" smtClean="0"/>
              <a:t>dalam</a:t>
            </a:r>
            <a:r>
              <a:rPr lang="en-ID" dirty="0" smtClean="0"/>
              <a:t> </a:t>
            </a:r>
            <a:r>
              <a:rPr lang="en-ID" dirty="0" err="1" smtClean="0"/>
              <a:t>referensi</a:t>
            </a:r>
            <a:r>
              <a:rPr lang="en-ID" dirty="0" smtClean="0"/>
              <a:t> (</a:t>
            </a:r>
            <a:r>
              <a:rPr lang="en-ID" dirty="0" err="1" smtClean="0"/>
              <a:t>Buku</a:t>
            </a:r>
            <a:r>
              <a:rPr lang="en-ID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894" y="1553378"/>
            <a:ext cx="10541306" cy="44816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 smtClean="0"/>
              <a:t>Penulis</a:t>
            </a:r>
            <a:r>
              <a:rPr lang="en-US" b="1" dirty="0" smtClean="0"/>
              <a:t> </a:t>
            </a:r>
            <a:r>
              <a:rPr lang="en-US" b="1" dirty="0" err="1"/>
              <a:t>tunggal</a:t>
            </a:r>
            <a:endParaRPr lang="en-US" b="1" dirty="0"/>
          </a:p>
          <a:p>
            <a:r>
              <a:rPr lang="en-US" dirty="0"/>
              <a:t>Baxter, C. (1997). </a:t>
            </a:r>
            <a:r>
              <a:rPr lang="en-US" i="1" dirty="0"/>
              <a:t>Race equality in health care and </a:t>
            </a:r>
            <a:r>
              <a:rPr lang="en-US" i="1" dirty="0" err="1" smtClean="0"/>
              <a:t>education.</a:t>
            </a:r>
            <a:r>
              <a:rPr lang="en-US" dirty="0" err="1" smtClean="0"/>
              <a:t>Philadelphia</a:t>
            </a:r>
            <a:r>
              <a:rPr lang="en-US" dirty="0" smtClean="0"/>
              <a:t>: </a:t>
            </a:r>
            <a:r>
              <a:rPr lang="en-US" dirty="0" err="1" smtClean="0"/>
              <a:t>Balliere</a:t>
            </a:r>
            <a:r>
              <a:rPr lang="en-US" dirty="0" smtClean="0"/>
              <a:t> </a:t>
            </a:r>
            <a:r>
              <a:rPr lang="en-US" dirty="0"/>
              <a:t>Tindall.</a:t>
            </a:r>
          </a:p>
          <a:p>
            <a:pPr marL="0" indent="0">
              <a:buNone/>
            </a:pPr>
            <a:r>
              <a:rPr lang="en-US" b="1" dirty="0" err="1"/>
              <a:t>Penulis</a:t>
            </a:r>
            <a:r>
              <a:rPr lang="en-US" b="1" dirty="0"/>
              <a:t> </a:t>
            </a:r>
            <a:r>
              <a:rPr lang="en-US" b="1" dirty="0" err="1"/>
              <a:t>dua</a:t>
            </a:r>
            <a:r>
              <a:rPr lang="en-US" b="1" dirty="0"/>
              <a:t> </a:t>
            </a:r>
            <a:r>
              <a:rPr lang="en-US" b="1" dirty="0" err="1"/>
              <a:t>atau</a:t>
            </a:r>
            <a:r>
              <a:rPr lang="en-US" b="1" dirty="0"/>
              <a:t> </a:t>
            </a:r>
            <a:r>
              <a:rPr lang="en-US" b="1" dirty="0" err="1"/>
              <a:t>tiga</a:t>
            </a:r>
            <a:endParaRPr lang="en-US" b="1" dirty="0"/>
          </a:p>
          <a:p>
            <a:r>
              <a:rPr lang="en-US" dirty="0"/>
              <a:t>Cone, J.D., &amp; Foster, S.L. (1993).</a:t>
            </a:r>
            <a:r>
              <a:rPr lang="en-US" i="1" dirty="0"/>
              <a:t>Dissertations and theses from start to </a:t>
            </a:r>
            <a:r>
              <a:rPr lang="en-US" i="1" dirty="0" smtClean="0"/>
              <a:t>finish: Psychology </a:t>
            </a:r>
            <a:r>
              <a:rPr lang="en-US" i="1" dirty="0"/>
              <a:t>and related fields</a:t>
            </a:r>
            <a:r>
              <a:rPr lang="en-US" dirty="0"/>
              <a:t>. Washington, DC: American </a:t>
            </a:r>
            <a:r>
              <a:rPr lang="en-US" dirty="0" smtClean="0"/>
              <a:t>Psychological Association.</a:t>
            </a:r>
          </a:p>
          <a:p>
            <a:pPr marL="0" indent="0">
              <a:buNone/>
            </a:pPr>
            <a:r>
              <a:rPr lang="en-US" b="1" dirty="0" err="1" smtClean="0"/>
              <a:t>Tidak</a:t>
            </a:r>
            <a:r>
              <a:rPr lang="en-US" b="1" dirty="0" smtClean="0"/>
              <a:t> </a:t>
            </a:r>
            <a:r>
              <a:rPr lang="en-US" b="1" dirty="0" err="1"/>
              <a:t>ada</a:t>
            </a:r>
            <a:r>
              <a:rPr lang="en-US" b="1" dirty="0"/>
              <a:t> </a:t>
            </a:r>
            <a:r>
              <a:rPr lang="en-US" b="1" dirty="0" err="1"/>
              <a:t>nama</a:t>
            </a:r>
            <a:r>
              <a:rPr lang="en-US" b="1" dirty="0"/>
              <a:t> </a:t>
            </a:r>
            <a:r>
              <a:rPr lang="en-US" b="1" dirty="0" err="1"/>
              <a:t>penulis</a:t>
            </a:r>
            <a:endParaRPr lang="en-US" b="1" dirty="0"/>
          </a:p>
          <a:p>
            <a:r>
              <a:rPr lang="en-US" i="1" dirty="0"/>
              <a:t>Merriam-Webster’s collegiate dictionary </a:t>
            </a:r>
            <a:r>
              <a:rPr lang="en-US" dirty="0"/>
              <a:t>(10th ed.). (1993). Springfield, </a:t>
            </a:r>
            <a:r>
              <a:rPr lang="en-US" dirty="0" smtClean="0"/>
              <a:t>MA: Merriam-Webster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Bukan</a:t>
            </a:r>
            <a:r>
              <a:rPr lang="en-US" b="1" dirty="0"/>
              <a:t> </a:t>
            </a:r>
            <a:r>
              <a:rPr lang="en-US" b="1" dirty="0" err="1"/>
              <a:t>edisi</a:t>
            </a:r>
            <a:r>
              <a:rPr lang="en-US" b="1" dirty="0"/>
              <a:t> </a:t>
            </a:r>
            <a:r>
              <a:rPr lang="en-US" b="1" dirty="0" err="1"/>
              <a:t>pertama</a:t>
            </a:r>
            <a:endParaRPr lang="en-US" b="1" dirty="0"/>
          </a:p>
          <a:p>
            <a:r>
              <a:rPr lang="en-US" dirty="0"/>
              <a:t>Mitchell, T.R., &amp; Larson, J.R. (1987). </a:t>
            </a:r>
            <a:r>
              <a:rPr lang="en-US" i="1" dirty="0"/>
              <a:t>People in organizations: An introduction </a:t>
            </a:r>
            <a:r>
              <a:rPr lang="en-US" i="1" dirty="0" smtClean="0"/>
              <a:t>to organizational </a:t>
            </a:r>
            <a:r>
              <a:rPr lang="en-US" i="1" dirty="0"/>
              <a:t>behavior </a:t>
            </a:r>
            <a:r>
              <a:rPr lang="en-US" dirty="0"/>
              <a:t>(3rd ed.). New York: McGraw-Hill.</a:t>
            </a:r>
          </a:p>
          <a:p>
            <a:pPr marL="0" indent="0">
              <a:buNone/>
            </a:pPr>
            <a:r>
              <a:rPr lang="pt-BR" b="1" dirty="0"/>
              <a:t>Penulis berupa tim atau lembaga</a:t>
            </a:r>
          </a:p>
          <a:p>
            <a:r>
              <a:rPr lang="en-US" dirty="0"/>
              <a:t>American Psychiatric Association. (1994). </a:t>
            </a:r>
            <a:r>
              <a:rPr lang="en-US" i="1" dirty="0"/>
              <a:t>Diagnostic and statistical manual </a:t>
            </a:r>
            <a:r>
              <a:rPr lang="en-US" i="1" dirty="0" smtClean="0"/>
              <a:t>of mental </a:t>
            </a:r>
            <a:r>
              <a:rPr lang="en-US" i="1" dirty="0"/>
              <a:t>disorders </a:t>
            </a:r>
            <a:r>
              <a:rPr lang="en-US" dirty="0"/>
              <a:t>(4th ed.). Washington, DC: Author.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48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313" y="290055"/>
            <a:ext cx="10864467" cy="1371600"/>
          </a:xfrm>
        </p:spPr>
        <p:txBody>
          <a:bodyPr>
            <a:normAutofit fontScale="90000"/>
          </a:bodyPr>
          <a:lstStyle/>
          <a:p>
            <a:r>
              <a:rPr lang="en-ID" dirty="0" err="1" smtClean="0"/>
              <a:t>Penulisan</a:t>
            </a:r>
            <a:r>
              <a:rPr lang="en-ID" dirty="0" smtClean="0"/>
              <a:t> </a:t>
            </a:r>
            <a:r>
              <a:rPr lang="en-ID" dirty="0" err="1" smtClean="0"/>
              <a:t>dalam</a:t>
            </a:r>
            <a:r>
              <a:rPr lang="en-ID" dirty="0" smtClean="0"/>
              <a:t> </a:t>
            </a:r>
            <a:r>
              <a:rPr lang="en-ID" dirty="0" err="1" smtClean="0"/>
              <a:t>referensi</a:t>
            </a:r>
            <a:r>
              <a:rPr lang="en-ID" dirty="0" smtClean="0"/>
              <a:t> (</a:t>
            </a:r>
            <a:r>
              <a:rPr lang="en-ID" dirty="0" err="1" smtClean="0"/>
              <a:t>Buku</a:t>
            </a:r>
            <a:r>
              <a:rPr lang="en-ID" dirty="0" smtClean="0"/>
              <a:t>)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894" y="1553378"/>
            <a:ext cx="10541306" cy="44816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b="1" dirty="0"/>
              <a:t>Buku berseri/</a:t>
            </a:r>
            <a:r>
              <a:rPr lang="it-IT" b="1" i="1" dirty="0"/>
              <a:t>multi volume </a:t>
            </a:r>
            <a:r>
              <a:rPr lang="it-IT" b="1" dirty="0"/>
              <a:t>(editor sebagai penulis)</a:t>
            </a:r>
          </a:p>
          <a:p>
            <a:r>
              <a:rPr lang="en-US" dirty="0"/>
              <a:t>Koch, S. (Ed.). (1959-1963). </a:t>
            </a:r>
            <a:r>
              <a:rPr lang="en-US" i="1" dirty="0"/>
              <a:t>Psychology: A study of science </a:t>
            </a:r>
            <a:r>
              <a:rPr lang="en-US" dirty="0"/>
              <a:t>(Vols. 1-6). </a:t>
            </a:r>
            <a:r>
              <a:rPr lang="en-US" dirty="0" smtClean="0"/>
              <a:t>New York</a:t>
            </a:r>
            <a:r>
              <a:rPr lang="en-US" dirty="0"/>
              <a:t>: McGraw-Hill.</a:t>
            </a:r>
          </a:p>
          <a:p>
            <a:pPr marL="0" indent="0">
              <a:buNone/>
            </a:pPr>
            <a:r>
              <a:rPr lang="en-US" b="1" dirty="0" err="1"/>
              <a:t>Terjemahan</a:t>
            </a:r>
            <a:endParaRPr lang="en-US" b="1" dirty="0"/>
          </a:p>
          <a:p>
            <a:r>
              <a:rPr lang="en-US" dirty="0"/>
              <a:t>Kotler, Philip. (1997). </a:t>
            </a:r>
            <a:r>
              <a:rPr lang="en-US" i="1" dirty="0" err="1"/>
              <a:t>Manajemen</a:t>
            </a:r>
            <a:r>
              <a:rPr lang="en-US" i="1" dirty="0"/>
              <a:t> </a:t>
            </a:r>
            <a:r>
              <a:rPr lang="en-US" i="1" dirty="0" err="1"/>
              <a:t>pemasaran</a:t>
            </a:r>
            <a:r>
              <a:rPr lang="en-US" i="1" dirty="0"/>
              <a:t> : </a:t>
            </a:r>
            <a:r>
              <a:rPr lang="en-US" i="1" dirty="0" err="1"/>
              <a:t>Analisis</a:t>
            </a:r>
            <a:r>
              <a:rPr lang="en-US" i="1" dirty="0"/>
              <a:t>, </a:t>
            </a:r>
            <a:r>
              <a:rPr lang="en-US" i="1" dirty="0" err="1" smtClean="0"/>
              <a:t>perencanaan</a:t>
            </a:r>
            <a:r>
              <a:rPr lang="en-US" i="1" dirty="0" smtClean="0"/>
              <a:t>, </a:t>
            </a:r>
            <a:r>
              <a:rPr lang="en-US" i="1" dirty="0" err="1" smtClean="0"/>
              <a:t>implementasi</a:t>
            </a:r>
            <a:r>
              <a:rPr lang="en-US" i="1" dirty="0" smtClean="0"/>
              <a:t> </a:t>
            </a:r>
            <a:r>
              <a:rPr lang="en-US" dirty="0"/>
              <a:t>(Hendra </a:t>
            </a:r>
            <a:r>
              <a:rPr lang="en-US" dirty="0" err="1"/>
              <a:t>Teguh</a:t>
            </a:r>
            <a:r>
              <a:rPr lang="en-US" dirty="0"/>
              <a:t> &amp; Ronny Antonius </a:t>
            </a:r>
            <a:r>
              <a:rPr lang="en-US" dirty="0" err="1"/>
              <a:t>Rusli</a:t>
            </a:r>
            <a:r>
              <a:rPr lang="en-US" dirty="0"/>
              <a:t>, </a:t>
            </a:r>
            <a:r>
              <a:rPr lang="en-US" dirty="0" err="1"/>
              <a:t>Penerjemah</a:t>
            </a:r>
            <a:r>
              <a:rPr lang="en-US" dirty="0" smtClean="0"/>
              <a:t>.). </a:t>
            </a:r>
            <a:r>
              <a:rPr lang="en-US" dirty="0" err="1" smtClean="0"/>
              <a:t>Jakarta:Prenhallindo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de-DE" b="1" dirty="0"/>
              <a:t>Artikel atau bab dalam buku yang diedit</a:t>
            </a:r>
          </a:p>
          <a:p>
            <a:r>
              <a:rPr lang="en-US" dirty="0" err="1"/>
              <a:t>Eiser</a:t>
            </a:r>
            <a:r>
              <a:rPr lang="en-US" dirty="0"/>
              <a:t>, S., Redpath, A., &amp; Rogers, N. (1987). Outcomes of early </a:t>
            </a:r>
            <a:r>
              <a:rPr lang="en-US" dirty="0" smtClean="0"/>
              <a:t>parenting: Knowns </a:t>
            </a:r>
            <a:r>
              <a:rPr lang="en-US" dirty="0"/>
              <a:t>and unknowns. In A. P. Kern &amp; L. S. Maze (Ed.).</a:t>
            </a:r>
            <a:r>
              <a:rPr lang="en-US" i="1" dirty="0"/>
              <a:t>Logical </a:t>
            </a:r>
            <a:r>
              <a:rPr lang="en-US" i="1" dirty="0" err="1" smtClean="0"/>
              <a:t>thinkingin</a:t>
            </a:r>
            <a:r>
              <a:rPr lang="en-US" i="1" dirty="0"/>
              <a:t> </a:t>
            </a:r>
            <a:r>
              <a:rPr lang="en-US" i="1" dirty="0" smtClean="0"/>
              <a:t>children </a:t>
            </a:r>
            <a:r>
              <a:rPr lang="en-US" dirty="0"/>
              <a:t>(pp. 58-87). New York: Springer.</a:t>
            </a:r>
          </a:p>
          <a:p>
            <a:pPr marL="0" indent="0">
              <a:buNone/>
            </a:pPr>
            <a:r>
              <a:rPr lang="en-US" b="1" dirty="0" err="1"/>
              <a:t>Artikel</a:t>
            </a:r>
            <a:r>
              <a:rPr lang="en-US" b="1" dirty="0"/>
              <a:t>/</a:t>
            </a:r>
            <a:r>
              <a:rPr lang="en-US" b="1" dirty="0" err="1"/>
              <a:t>istilah</a:t>
            </a:r>
            <a:r>
              <a:rPr lang="en-US" b="1" dirty="0"/>
              <a:t>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buku</a:t>
            </a:r>
            <a:r>
              <a:rPr lang="en-US" b="1" dirty="0"/>
              <a:t> </a:t>
            </a:r>
            <a:r>
              <a:rPr lang="en-US" b="1" dirty="0" err="1"/>
              <a:t>referensi</a:t>
            </a:r>
            <a:endParaRPr lang="en-US" b="1" dirty="0"/>
          </a:p>
          <a:p>
            <a:r>
              <a:rPr lang="nl-NL" dirty="0"/>
              <a:t>Schneider, I. (1989). Bandicoots. In </a:t>
            </a:r>
            <a:r>
              <a:rPr lang="nl-NL" i="1" dirty="0"/>
              <a:t>Grzimek’s encyclopedia of mammals </a:t>
            </a:r>
            <a:r>
              <a:rPr lang="nl-NL" dirty="0"/>
              <a:t>(</a:t>
            </a:r>
            <a:r>
              <a:rPr lang="nl-NL" dirty="0" smtClean="0"/>
              <a:t>vol.1, </a:t>
            </a:r>
            <a:r>
              <a:rPr lang="en-US" dirty="0" smtClean="0"/>
              <a:t>pp</a:t>
            </a:r>
            <a:r>
              <a:rPr lang="en-US" dirty="0"/>
              <a:t>. 300 304). New York: McGraw-Hill.</a:t>
            </a:r>
          </a:p>
          <a:p>
            <a:pPr marL="0" indent="0">
              <a:buNone/>
            </a:pPr>
            <a:r>
              <a:rPr lang="sv-SE" b="1" dirty="0"/>
              <a:t>Makalah seminar, konferensi, dan sejenisnya.</a:t>
            </a:r>
          </a:p>
          <a:p>
            <a:r>
              <a:rPr lang="en-US" dirty="0"/>
              <a:t>Crespo, C.J. (1998, March). </a:t>
            </a:r>
            <a:r>
              <a:rPr lang="en-US" i="1" dirty="0"/>
              <a:t>Update on national data on asthma. </a:t>
            </a:r>
            <a:r>
              <a:rPr lang="en-US" dirty="0"/>
              <a:t>Paper </a:t>
            </a:r>
            <a:r>
              <a:rPr lang="en-US" dirty="0" smtClean="0"/>
              <a:t>presented at </a:t>
            </a:r>
            <a:r>
              <a:rPr lang="en-US" dirty="0"/>
              <a:t>the meeting of the National Asthma Education and Prevention </a:t>
            </a:r>
            <a:r>
              <a:rPr lang="en-US" dirty="0" smtClean="0"/>
              <a:t>Program, Leesburg</a:t>
            </a:r>
            <a:r>
              <a:rPr lang="en-US" dirty="0"/>
              <a:t>, 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/>
          <a:lstStyle/>
          <a:p>
            <a:r>
              <a:rPr lang="en-ID" dirty="0" err="1"/>
              <a:t>Penulisan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referensi</a:t>
            </a:r>
            <a:r>
              <a:rPr lang="en-ID" dirty="0"/>
              <a:t> </a:t>
            </a:r>
            <a:r>
              <a:rPr lang="en-ID" dirty="0" smtClean="0"/>
              <a:t>(Serial)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D" b="1" dirty="0" err="1" smtClean="0"/>
              <a:t>Artikel</a:t>
            </a:r>
            <a:r>
              <a:rPr lang="en-ID" b="1" dirty="0" smtClean="0"/>
              <a:t> </a:t>
            </a:r>
            <a:r>
              <a:rPr lang="en-ID" b="1" dirty="0" err="1" smtClean="0"/>
              <a:t>Jurnal</a:t>
            </a:r>
            <a:endParaRPr lang="en-US" b="1" dirty="0" smtClean="0"/>
          </a:p>
          <a:p>
            <a:r>
              <a:rPr lang="en-US" dirty="0" smtClean="0"/>
              <a:t>Clark</a:t>
            </a:r>
            <a:r>
              <a:rPr lang="en-US" dirty="0"/>
              <a:t>, L.A., </a:t>
            </a:r>
            <a:r>
              <a:rPr lang="en-US" dirty="0" err="1"/>
              <a:t>Kochanska</a:t>
            </a:r>
            <a:r>
              <a:rPr lang="en-US" dirty="0"/>
              <a:t>, G., &amp; Ready, R. (2000). Mothers’ personality and </a:t>
            </a:r>
            <a:r>
              <a:rPr lang="en-US" dirty="0" smtClean="0"/>
              <a:t>its interaction </a:t>
            </a:r>
            <a:r>
              <a:rPr lang="en-US" dirty="0"/>
              <a:t>with child temperament as predictors of parenting </a:t>
            </a:r>
            <a:r>
              <a:rPr lang="en-US" dirty="0" smtClean="0"/>
              <a:t>behavior. </a:t>
            </a:r>
            <a:r>
              <a:rPr lang="en-US" i="1" dirty="0" smtClean="0"/>
              <a:t>Journal </a:t>
            </a:r>
            <a:r>
              <a:rPr lang="en-US" i="1" dirty="0"/>
              <a:t>of Personality and Social Psychology</a:t>
            </a:r>
            <a:r>
              <a:rPr lang="en-US" dirty="0"/>
              <a:t>, 79, 274-285.</a:t>
            </a:r>
          </a:p>
          <a:p>
            <a:pPr marL="0" indent="0">
              <a:buNone/>
            </a:pPr>
            <a:r>
              <a:rPr lang="en-US" b="1" dirty="0" err="1"/>
              <a:t>Artikel</a:t>
            </a:r>
            <a:r>
              <a:rPr lang="en-US" b="1" dirty="0"/>
              <a:t> </a:t>
            </a:r>
            <a:r>
              <a:rPr lang="en-US" b="1" dirty="0" err="1"/>
              <a:t>Majalah</a:t>
            </a:r>
            <a:endParaRPr lang="en-US" b="1" dirty="0"/>
          </a:p>
          <a:p>
            <a:r>
              <a:rPr lang="en-US" dirty="0"/>
              <a:t>Greenberg, G. (2001, August 13). As good as dead: Is there really such a thing </a:t>
            </a:r>
            <a:r>
              <a:rPr lang="en-US" dirty="0" smtClean="0"/>
              <a:t>as brain </a:t>
            </a:r>
            <a:r>
              <a:rPr lang="en-US" dirty="0"/>
              <a:t>death? </a:t>
            </a:r>
            <a:r>
              <a:rPr lang="en-US" i="1" dirty="0"/>
              <a:t>New Yorker</a:t>
            </a:r>
            <a:r>
              <a:rPr lang="en-US" dirty="0"/>
              <a:t>, 36-41.</a:t>
            </a:r>
          </a:p>
          <a:p>
            <a:pPr marL="0" indent="0">
              <a:buNone/>
            </a:pPr>
            <a:r>
              <a:rPr lang="en-US" b="1" dirty="0" err="1"/>
              <a:t>Artikel</a:t>
            </a:r>
            <a:r>
              <a:rPr lang="en-US" b="1" dirty="0"/>
              <a:t> </a:t>
            </a:r>
            <a:r>
              <a:rPr lang="en-US" b="1" dirty="0" err="1"/>
              <a:t>surat</a:t>
            </a:r>
            <a:r>
              <a:rPr lang="en-US" b="1" dirty="0"/>
              <a:t> </a:t>
            </a:r>
            <a:r>
              <a:rPr lang="en-US" b="1" dirty="0" err="1"/>
              <a:t>kabar</a:t>
            </a:r>
            <a:endParaRPr lang="en-US" b="1" dirty="0"/>
          </a:p>
          <a:p>
            <a:r>
              <a:rPr lang="en-US" dirty="0" err="1"/>
              <a:t>Crossette</a:t>
            </a:r>
            <a:r>
              <a:rPr lang="en-US" dirty="0"/>
              <a:t>, Barbara. (1990, January 23). India lodges first charges in arms </a:t>
            </a:r>
            <a:r>
              <a:rPr lang="en-US" dirty="0" smtClean="0"/>
              <a:t>Scandal. </a:t>
            </a:r>
            <a:r>
              <a:rPr lang="en-US" i="1" dirty="0" smtClean="0"/>
              <a:t>New </a:t>
            </a:r>
            <a:r>
              <a:rPr lang="en-US" i="1" dirty="0"/>
              <a:t>York Times</a:t>
            </a:r>
            <a:r>
              <a:rPr lang="en-US" dirty="0"/>
              <a:t>, A4.</a:t>
            </a:r>
          </a:p>
          <a:p>
            <a:pPr marL="0" indent="0">
              <a:buNone/>
            </a:pPr>
            <a:r>
              <a:rPr lang="sv-SE" b="1" dirty="0"/>
              <a:t>Artikel surat kabar, tanpa penulis</a:t>
            </a:r>
          </a:p>
          <a:p>
            <a:r>
              <a:rPr lang="en-US" dirty="0"/>
              <a:t>Understanding early years as a prerequisite to development. (1986, May 4). </a:t>
            </a:r>
            <a:r>
              <a:rPr lang="en-US" i="1" dirty="0" smtClean="0"/>
              <a:t>The Wall </a:t>
            </a:r>
            <a:r>
              <a:rPr lang="en-US" i="1" dirty="0"/>
              <a:t>Street Journal, </a:t>
            </a:r>
            <a:r>
              <a:rPr lang="en-US" dirty="0"/>
              <a:t>p. 8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Resensi</a:t>
            </a:r>
            <a:r>
              <a:rPr lang="en-US" b="1" dirty="0"/>
              <a:t> </a:t>
            </a:r>
            <a:r>
              <a:rPr lang="en-US" b="1" dirty="0" err="1"/>
              <a:t>buku</a:t>
            </a:r>
            <a:r>
              <a:rPr lang="en-US" b="1" dirty="0"/>
              <a:t>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jurnal</a:t>
            </a:r>
            <a:endParaRPr lang="en-US" b="1" dirty="0"/>
          </a:p>
          <a:p>
            <a:r>
              <a:rPr lang="en-US" dirty="0" err="1"/>
              <a:t>Grabill</a:t>
            </a:r>
            <a:r>
              <a:rPr lang="en-US" dirty="0"/>
              <a:t>, C. M., &amp; </a:t>
            </a:r>
            <a:r>
              <a:rPr lang="en-US" dirty="0" err="1"/>
              <a:t>Kaslow</a:t>
            </a:r>
            <a:r>
              <a:rPr lang="en-US" dirty="0"/>
              <a:t>, N. J. (1999). </a:t>
            </a:r>
            <a:r>
              <a:rPr lang="en-US" dirty="0" err="1"/>
              <a:t>Anounce</a:t>
            </a:r>
            <a:r>
              <a:rPr lang="en-US" dirty="0"/>
              <a:t> of prevention: </a:t>
            </a:r>
            <a:r>
              <a:rPr lang="en-US" dirty="0" smtClean="0"/>
              <a:t>Improving children's </a:t>
            </a:r>
            <a:r>
              <a:rPr lang="en-US" dirty="0"/>
              <a:t>mental health for the 21st century [Review of the book </a:t>
            </a:r>
            <a:r>
              <a:rPr lang="en-US" i="1" dirty="0" err="1" smtClean="0"/>
              <a:t>Handbookof</a:t>
            </a:r>
            <a:r>
              <a:rPr lang="en-US" i="1" dirty="0"/>
              <a:t> </a:t>
            </a:r>
            <a:r>
              <a:rPr lang="en-US" i="1" dirty="0" smtClean="0"/>
              <a:t>prevention </a:t>
            </a:r>
            <a:r>
              <a:rPr lang="en-US" i="1" dirty="0"/>
              <a:t>and treatment with children and adolescents]. Journal </a:t>
            </a:r>
            <a:r>
              <a:rPr lang="en-US" i="1" dirty="0" err="1" smtClean="0"/>
              <a:t>ofClinical</a:t>
            </a:r>
            <a:r>
              <a:rPr lang="en-US" i="1" dirty="0" smtClean="0"/>
              <a:t> Child </a:t>
            </a:r>
            <a:r>
              <a:rPr lang="en-US" i="1" dirty="0"/>
              <a:t>Psychology</a:t>
            </a:r>
            <a:r>
              <a:rPr lang="en-US" dirty="0"/>
              <a:t>, 28, 115 116.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12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err="1"/>
              <a:t>Penulisan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referensi</a:t>
            </a:r>
            <a:r>
              <a:rPr lang="en-ID" dirty="0"/>
              <a:t> </a:t>
            </a:r>
            <a:r>
              <a:rPr lang="en-ID" dirty="0" smtClean="0"/>
              <a:t>(</a:t>
            </a:r>
            <a:r>
              <a:rPr lang="en-ID" dirty="0" err="1" smtClean="0"/>
              <a:t>Wawancara</a:t>
            </a:r>
            <a:r>
              <a:rPr lang="en-ID" dirty="0" smtClean="0"/>
              <a:t> </a:t>
            </a:r>
            <a:r>
              <a:rPr lang="en-ID" dirty="0" err="1" smtClean="0"/>
              <a:t>dan</a:t>
            </a:r>
            <a:r>
              <a:rPr lang="en-ID" dirty="0" smtClean="0"/>
              <a:t> email)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 err="1" smtClean="0"/>
              <a:t>Wawancara</a:t>
            </a:r>
            <a:endParaRPr lang="en-US" b="1" dirty="0" smtClean="0"/>
          </a:p>
          <a:p>
            <a:r>
              <a:rPr lang="en-US" dirty="0" smtClean="0"/>
              <a:t>White</a:t>
            </a:r>
            <a:r>
              <a:rPr lang="en-US" dirty="0"/>
              <a:t>, Donna. (1992, December 25). Personal </a:t>
            </a:r>
            <a:r>
              <a:rPr lang="en-US" dirty="0" smtClean="0"/>
              <a:t>interview.</a:t>
            </a:r>
            <a:endParaRPr lang="en-US" dirty="0"/>
          </a:p>
          <a:p>
            <a:endParaRPr lang="en-ID" dirty="0" smtClean="0"/>
          </a:p>
          <a:p>
            <a:pPr marL="0" indent="0">
              <a:buNone/>
            </a:pPr>
            <a:r>
              <a:rPr lang="en-US" b="1" dirty="0"/>
              <a:t>Email</a:t>
            </a:r>
          </a:p>
          <a:p>
            <a:r>
              <a:rPr lang="en-US" dirty="0"/>
              <a:t>Wilson, R.W. (1999, March 24). Pennsylvania reporting data. Child </a:t>
            </a:r>
            <a:r>
              <a:rPr lang="en-US" dirty="0" smtClean="0"/>
              <a:t>Maltreatment Research</a:t>
            </a:r>
            <a:r>
              <a:rPr lang="en-US" dirty="0"/>
              <a:t>. March 30, 1999</a:t>
            </a:r>
            <a:r>
              <a:rPr lang="en-US" i="1" dirty="0"/>
              <a:t>. </a:t>
            </a:r>
            <a:r>
              <a:rPr lang="en-US" i="1" dirty="0" smtClean="0"/>
              <a:t>CHILD-MALTREATMENT-R-L@cornell.edu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17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3" y="323105"/>
            <a:ext cx="12019402" cy="1371600"/>
          </a:xfrm>
        </p:spPr>
        <p:txBody>
          <a:bodyPr>
            <a:normAutofit/>
          </a:bodyPr>
          <a:lstStyle/>
          <a:p>
            <a:r>
              <a:rPr lang="en-ID" sz="4000" dirty="0" err="1"/>
              <a:t>Penulisan</a:t>
            </a:r>
            <a:r>
              <a:rPr lang="en-ID" sz="4000" dirty="0"/>
              <a:t> </a:t>
            </a:r>
            <a:r>
              <a:rPr lang="en-ID" sz="4000" dirty="0" err="1"/>
              <a:t>dalam</a:t>
            </a:r>
            <a:r>
              <a:rPr lang="en-ID" sz="4000" dirty="0"/>
              <a:t> </a:t>
            </a:r>
            <a:r>
              <a:rPr lang="en-ID" sz="4000" dirty="0" err="1"/>
              <a:t>referensi</a:t>
            </a:r>
            <a:r>
              <a:rPr lang="en-ID" sz="4000" dirty="0"/>
              <a:t> </a:t>
            </a:r>
            <a:r>
              <a:rPr lang="en-ID" sz="4000" dirty="0" smtClean="0"/>
              <a:t>(</a:t>
            </a:r>
            <a:r>
              <a:rPr lang="en-ID" sz="4000" dirty="0" err="1" smtClean="0"/>
              <a:t>Publikasi</a:t>
            </a:r>
            <a:r>
              <a:rPr lang="en-ID" sz="4000" dirty="0" smtClean="0"/>
              <a:t> </a:t>
            </a:r>
            <a:r>
              <a:rPr lang="en-ID" sz="4000" dirty="0" err="1" smtClean="0"/>
              <a:t>elektronik</a:t>
            </a:r>
            <a:r>
              <a:rPr lang="en-ID" sz="4000" dirty="0" smtClean="0"/>
              <a:t>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978" y="1410159"/>
            <a:ext cx="10486222" cy="50457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 smtClean="0"/>
              <a:t>Karya</a:t>
            </a:r>
            <a:r>
              <a:rPr lang="en-US" b="1" dirty="0" smtClean="0"/>
              <a:t> </a:t>
            </a:r>
            <a:r>
              <a:rPr lang="en-US" b="1" dirty="0" err="1" smtClean="0"/>
              <a:t>lengkap</a:t>
            </a:r>
            <a:endParaRPr lang="en-US" b="1" dirty="0" smtClean="0"/>
          </a:p>
          <a:p>
            <a:r>
              <a:rPr lang="en-US" dirty="0" smtClean="0"/>
              <a:t>McNeese</a:t>
            </a:r>
            <a:r>
              <a:rPr lang="en-US" dirty="0"/>
              <a:t>, M.N. (2001). </a:t>
            </a:r>
            <a:r>
              <a:rPr lang="en-US" i="1" dirty="0"/>
              <a:t>Using technology in educational settings. </a:t>
            </a:r>
            <a:r>
              <a:rPr lang="en-US" dirty="0"/>
              <a:t>October </a:t>
            </a:r>
            <a:r>
              <a:rPr lang="en-US" dirty="0" smtClean="0"/>
              <a:t>13, 2001</a:t>
            </a:r>
            <a:r>
              <a:rPr lang="en-US" dirty="0"/>
              <a:t>. University of Southern Mississippi, Educational Leadership </a:t>
            </a:r>
            <a:r>
              <a:rPr lang="en-US" dirty="0" smtClean="0"/>
              <a:t>and  Research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http://www.dept.usm.edu/~</a:t>
            </a:r>
            <a:r>
              <a:rPr lang="en-US" dirty="0" smtClean="0">
                <a:hlinkClick r:id="rId2"/>
              </a:rPr>
              <a:t>eda/</a:t>
            </a:r>
            <a:endParaRPr lang="en-US" dirty="0" smtClean="0"/>
          </a:p>
          <a:p>
            <a:pPr marL="0" indent="0">
              <a:buNone/>
            </a:pPr>
            <a:r>
              <a:rPr lang="en-US" b="1" dirty="0" err="1"/>
              <a:t>A</a:t>
            </a:r>
            <a:r>
              <a:rPr lang="en-US" b="1" dirty="0" err="1" smtClean="0"/>
              <a:t>rtikel</a:t>
            </a:r>
            <a:r>
              <a:rPr lang="en-US" b="1" dirty="0" smtClean="0"/>
              <a:t> </a:t>
            </a:r>
            <a:r>
              <a:rPr lang="en-US" b="1" dirty="0" err="1"/>
              <a:t>dari</a:t>
            </a:r>
            <a:r>
              <a:rPr lang="en-US" b="1" dirty="0"/>
              <a:t> </a:t>
            </a:r>
            <a:r>
              <a:rPr lang="en-US" b="1" dirty="0" err="1"/>
              <a:t>pangkalan</a:t>
            </a:r>
            <a:r>
              <a:rPr lang="en-US" b="1" dirty="0"/>
              <a:t> data online</a:t>
            </a:r>
          </a:p>
          <a:p>
            <a:r>
              <a:rPr lang="en-US" dirty="0"/>
              <a:t>Senior, B. (1997, September). Team roles and team performance: Is there really </a:t>
            </a:r>
            <a:r>
              <a:rPr lang="en-US" dirty="0" smtClean="0"/>
              <a:t>a link</a:t>
            </a:r>
            <a:r>
              <a:rPr lang="en-US" dirty="0"/>
              <a:t>? </a:t>
            </a:r>
            <a:r>
              <a:rPr lang="en-US" i="1" dirty="0"/>
              <a:t>Journal of Occupational and Organizational Psychology</a:t>
            </a:r>
            <a:r>
              <a:rPr lang="en-US" dirty="0"/>
              <a:t>, 70</a:t>
            </a:r>
            <a:r>
              <a:rPr lang="en-US" i="1" dirty="0"/>
              <a:t>, </a:t>
            </a:r>
            <a:r>
              <a:rPr lang="en-US" dirty="0" smtClean="0"/>
              <a:t>241-258. June </a:t>
            </a:r>
            <a:r>
              <a:rPr lang="en-US" dirty="0"/>
              <a:t>6, 2001.ABI/INFORM Global (</a:t>
            </a:r>
            <a:r>
              <a:rPr lang="en-US" dirty="0" err="1"/>
              <a:t>Proquest</a:t>
            </a:r>
            <a:r>
              <a:rPr lang="en-US" dirty="0"/>
              <a:t>) database.</a:t>
            </a:r>
          </a:p>
          <a:p>
            <a:pPr marL="0" indent="0">
              <a:buNone/>
            </a:pPr>
            <a:r>
              <a:rPr lang="en-US" b="1" dirty="0" err="1"/>
              <a:t>Artikel</a:t>
            </a:r>
            <a:r>
              <a:rPr lang="en-US" b="1" dirty="0"/>
              <a:t> </a:t>
            </a:r>
            <a:r>
              <a:rPr lang="en-US" b="1" dirty="0" err="1"/>
              <a:t>jurnal</a:t>
            </a:r>
            <a:r>
              <a:rPr lang="en-US" b="1" dirty="0"/>
              <a:t> di website</a:t>
            </a:r>
          </a:p>
          <a:p>
            <a:r>
              <a:rPr lang="en-US" dirty="0" err="1"/>
              <a:t>Lodewijkx</a:t>
            </a:r>
            <a:r>
              <a:rPr lang="en-US" dirty="0"/>
              <a:t>, H. F. M. (2001, May 23). Individual- group continuity in </a:t>
            </a:r>
            <a:r>
              <a:rPr lang="en-US" dirty="0" smtClean="0"/>
              <a:t>cooperation and </a:t>
            </a:r>
            <a:r>
              <a:rPr lang="en-US" dirty="0"/>
              <a:t>competition </a:t>
            </a:r>
            <a:r>
              <a:rPr lang="en-US" dirty="0" err="1"/>
              <a:t>undervarying</a:t>
            </a:r>
            <a:r>
              <a:rPr lang="en-US" dirty="0"/>
              <a:t> communication conditions. </a:t>
            </a:r>
            <a:r>
              <a:rPr lang="en-US" i="1" dirty="0"/>
              <a:t>Current Issue </a:t>
            </a:r>
            <a:r>
              <a:rPr lang="en-US" i="1" dirty="0" smtClean="0"/>
              <a:t>in </a:t>
            </a:r>
            <a:r>
              <a:rPr lang="fr-FR" i="1" dirty="0" smtClean="0"/>
              <a:t>Social </a:t>
            </a:r>
            <a:r>
              <a:rPr lang="fr-FR" i="1" dirty="0"/>
              <a:t>Psychology, </a:t>
            </a:r>
            <a:r>
              <a:rPr lang="fr-FR" dirty="0"/>
              <a:t>6 (12), 166-182. </a:t>
            </a:r>
            <a:r>
              <a:rPr lang="fr-FR" dirty="0" err="1"/>
              <a:t>September</a:t>
            </a:r>
            <a:r>
              <a:rPr lang="fr-FR" dirty="0"/>
              <a:t> 14, </a:t>
            </a:r>
            <a:r>
              <a:rPr lang="fr-FR" dirty="0" smtClean="0"/>
              <a:t>2001. </a:t>
            </a:r>
            <a:r>
              <a:rPr lang="en-US" dirty="0" smtClean="0"/>
              <a:t>http</a:t>
            </a:r>
            <a:r>
              <a:rPr lang="en-US" dirty="0"/>
              <a:t>://www.uiowa.edu/~grpproc/crisp/crisp.6.12.htm</a:t>
            </a:r>
          </a:p>
          <a:p>
            <a:pPr marL="0" indent="0">
              <a:buNone/>
            </a:pPr>
            <a:r>
              <a:rPr lang="en-US" b="1" dirty="0" err="1"/>
              <a:t>Dokumen</a:t>
            </a:r>
            <a:r>
              <a:rPr lang="en-US" b="1" dirty="0"/>
              <a:t> </a:t>
            </a:r>
            <a:r>
              <a:rPr lang="en-US" b="1" dirty="0" err="1"/>
              <a:t>lembaga</a:t>
            </a:r>
            <a:endParaRPr lang="en-US" b="1" dirty="0"/>
          </a:p>
          <a:p>
            <a:r>
              <a:rPr lang="en-US" dirty="0"/>
              <a:t>NAACP (1999, February 25).</a:t>
            </a:r>
            <a:r>
              <a:rPr lang="en-US" i="1" dirty="0"/>
              <a:t>NAACP calls for Presidential order to halt </a:t>
            </a:r>
            <a:r>
              <a:rPr lang="en-US" i="1" dirty="0" smtClean="0"/>
              <a:t>police brutality </a:t>
            </a:r>
            <a:r>
              <a:rPr lang="en-US" i="1" dirty="0"/>
              <a:t>crisis. </a:t>
            </a:r>
            <a:r>
              <a:rPr lang="en-US" dirty="0"/>
              <a:t>June 3, </a:t>
            </a:r>
            <a:r>
              <a:rPr lang="en-US" dirty="0" smtClean="0"/>
              <a:t>2001. http</a:t>
            </a:r>
            <a:r>
              <a:rPr lang="en-US" dirty="0"/>
              <a:t>://www.naacp.org/president/releases/police_brutality.htm</a:t>
            </a:r>
          </a:p>
          <a:p>
            <a:pPr marL="0" indent="0">
              <a:buNone/>
            </a:pPr>
            <a:r>
              <a:rPr lang="en-US" b="1" dirty="0" err="1"/>
              <a:t>Dokumen</a:t>
            </a:r>
            <a:r>
              <a:rPr lang="en-US" b="1" dirty="0"/>
              <a:t> </a:t>
            </a:r>
            <a:r>
              <a:rPr lang="en-US" b="1" dirty="0" err="1"/>
              <a:t>lembaga</a:t>
            </a:r>
            <a:r>
              <a:rPr lang="en-US" b="1" dirty="0"/>
              <a:t>, </a:t>
            </a:r>
            <a:r>
              <a:rPr lang="en-US" b="1" dirty="0" err="1"/>
              <a:t>tanpa</a:t>
            </a:r>
            <a:r>
              <a:rPr lang="en-US" b="1" dirty="0"/>
              <a:t> </a:t>
            </a:r>
            <a:r>
              <a:rPr lang="en-US" b="1" dirty="0" err="1"/>
              <a:t>nomor</a:t>
            </a:r>
            <a:r>
              <a:rPr lang="en-US" b="1" dirty="0"/>
              <a:t> </a:t>
            </a:r>
            <a:r>
              <a:rPr lang="en-US" b="1" dirty="0" err="1"/>
              <a:t>halaman</a:t>
            </a:r>
            <a:r>
              <a:rPr lang="en-US" b="1" dirty="0"/>
              <a:t>, </a:t>
            </a:r>
            <a:r>
              <a:rPr lang="en-US" b="1" dirty="0" err="1"/>
              <a:t>tanpa</a:t>
            </a:r>
            <a:r>
              <a:rPr lang="en-US" b="1" dirty="0"/>
              <a:t> </a:t>
            </a:r>
            <a:r>
              <a:rPr lang="en-US" b="1" dirty="0" err="1"/>
              <a:t>informasi</a:t>
            </a:r>
            <a:r>
              <a:rPr lang="en-US" b="1" dirty="0"/>
              <a:t> </a:t>
            </a:r>
            <a:r>
              <a:rPr lang="en-US" b="1" dirty="0" err="1"/>
              <a:t>tahun</a:t>
            </a:r>
            <a:r>
              <a:rPr lang="en-US" b="1" dirty="0"/>
              <a:t> </a:t>
            </a:r>
            <a:r>
              <a:rPr lang="en-US" b="1" dirty="0" err="1"/>
              <a:t>penerbitan</a:t>
            </a:r>
            <a:endParaRPr lang="en-US" b="1" dirty="0"/>
          </a:p>
          <a:p>
            <a:r>
              <a:rPr lang="en-US" dirty="0"/>
              <a:t>Greater Hattiesburg Civic Awareness Group, Task Force on Sheltered Programs</a:t>
            </a:r>
            <a:r>
              <a:rPr lang="en-US" dirty="0" smtClean="0"/>
              <a:t>. (</a:t>
            </a:r>
            <a:r>
              <a:rPr lang="en-US" dirty="0" err="1"/>
              <a:t>n.d.</a:t>
            </a:r>
            <a:r>
              <a:rPr lang="en-US" dirty="0"/>
              <a:t>). </a:t>
            </a:r>
            <a:r>
              <a:rPr lang="en-US" i="1" dirty="0"/>
              <a:t>Fund-raising efforts. </a:t>
            </a:r>
            <a:r>
              <a:rPr lang="en-US" dirty="0"/>
              <a:t>November 10, </a:t>
            </a:r>
            <a:r>
              <a:rPr lang="en-US" dirty="0" smtClean="0"/>
              <a:t>2001. http</a:t>
            </a:r>
            <a:r>
              <a:rPr lang="en-US" dirty="0"/>
              <a:t>://www.hattiesburgcag.org</a:t>
            </a:r>
          </a:p>
          <a:p>
            <a:pPr marL="0" indent="0">
              <a:buNone/>
            </a:pPr>
            <a:r>
              <a:rPr lang="es-ES" b="1" dirty="0" err="1"/>
              <a:t>Penulis</a:t>
            </a:r>
            <a:r>
              <a:rPr lang="es-ES" b="1" dirty="0"/>
              <a:t> dan </a:t>
            </a:r>
            <a:r>
              <a:rPr lang="es-ES" b="1" dirty="0" err="1"/>
              <a:t>informasi</a:t>
            </a:r>
            <a:r>
              <a:rPr lang="es-ES" b="1" dirty="0"/>
              <a:t> </a:t>
            </a:r>
            <a:r>
              <a:rPr lang="es-ES" b="1" dirty="0" err="1"/>
              <a:t>waktu</a:t>
            </a:r>
            <a:r>
              <a:rPr lang="es-ES" b="1" dirty="0"/>
              <a:t> </a:t>
            </a:r>
            <a:r>
              <a:rPr lang="es-ES" b="1" dirty="0" err="1"/>
              <a:t>penerbitan</a:t>
            </a:r>
            <a:r>
              <a:rPr lang="es-ES" b="1" dirty="0"/>
              <a:t> </a:t>
            </a:r>
            <a:r>
              <a:rPr lang="es-ES" b="1" dirty="0" err="1"/>
              <a:t>tidak</a:t>
            </a:r>
            <a:r>
              <a:rPr lang="es-ES" b="1" dirty="0"/>
              <a:t> </a:t>
            </a:r>
            <a:r>
              <a:rPr lang="es-ES" b="1" dirty="0" err="1"/>
              <a:t>diketahui</a:t>
            </a:r>
            <a:endParaRPr lang="es-ES" b="1" dirty="0"/>
          </a:p>
          <a:p>
            <a:r>
              <a:rPr lang="en-US" i="1" dirty="0"/>
              <a:t>GVU's 8th WWW user survey.</a:t>
            </a:r>
            <a:r>
              <a:rPr lang="en-US" dirty="0"/>
              <a:t>(</a:t>
            </a:r>
            <a:r>
              <a:rPr lang="en-US" dirty="0" err="1"/>
              <a:t>n.d.</a:t>
            </a:r>
            <a:r>
              <a:rPr lang="en-US" dirty="0"/>
              <a:t>). September 13, </a:t>
            </a:r>
            <a:r>
              <a:rPr lang="en-US" dirty="0" smtClean="0"/>
              <a:t>2001 </a:t>
            </a:r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://www.gvu.gatech.edu/user_surveys/survey-1997-10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32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23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29" y="205740"/>
            <a:ext cx="11830437" cy="6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71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 smtClean="0"/>
              <a:t>Sumber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Hasibuan</a:t>
            </a:r>
            <a:r>
              <a:rPr lang="en-US" dirty="0"/>
              <a:t>, Z.A. (2007), “</a:t>
            </a:r>
            <a:r>
              <a:rPr lang="en-US" dirty="0" err="1"/>
              <a:t>Metodologi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Dan </a:t>
            </a:r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”, </a:t>
            </a:r>
            <a:r>
              <a:rPr lang="en-US" dirty="0" err="1"/>
              <a:t>Metodologi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Dan </a:t>
            </a:r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, Vol. 4 No. 1, pp. </a:t>
            </a:r>
            <a:r>
              <a:rPr lang="en-US" dirty="0" smtClean="0"/>
              <a:t>126–130.</a:t>
            </a:r>
          </a:p>
          <a:p>
            <a:r>
              <a:rPr lang="en-US" dirty="0" err="1"/>
              <a:t>Niwa</a:t>
            </a:r>
            <a:r>
              <a:rPr lang="en-US" dirty="0"/>
              <a:t>, H.  (2017), “</a:t>
            </a:r>
            <a:r>
              <a:rPr lang="en-US" dirty="0" err="1"/>
              <a:t>Pedoman</a:t>
            </a:r>
            <a:r>
              <a:rPr lang="en-US" dirty="0"/>
              <a:t> </a:t>
            </a:r>
            <a:r>
              <a:rPr lang="en-US" dirty="0" err="1"/>
              <a:t>teknis</a:t>
            </a:r>
            <a:r>
              <a:rPr lang="en-US" dirty="0"/>
              <a:t> </a:t>
            </a:r>
            <a:r>
              <a:rPr lang="en-US" dirty="0" err="1"/>
              <a:t>penulisan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akhir</a:t>
            </a:r>
            <a:r>
              <a:rPr lang="en-US" dirty="0"/>
              <a:t> </a:t>
            </a: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Universitas</a:t>
            </a:r>
            <a:r>
              <a:rPr lang="en-US" dirty="0"/>
              <a:t> Indonesia” Development, vol. 134, no. 4, pp. 635–646, 2007</a:t>
            </a:r>
            <a:r>
              <a:rPr lang="en-US" dirty="0" smtClean="0"/>
              <a:t>.</a:t>
            </a:r>
          </a:p>
          <a:p>
            <a:r>
              <a:rPr lang="en-ID" dirty="0" err="1"/>
              <a:t>Isbandi</a:t>
            </a:r>
            <a:r>
              <a:rPr lang="en-ID" dirty="0"/>
              <a:t>. (2011). </a:t>
            </a:r>
            <a:r>
              <a:rPr lang="en-ID" i="1" dirty="0"/>
              <a:t>Standard </a:t>
            </a:r>
            <a:r>
              <a:rPr lang="en-ID" i="1" dirty="0" err="1"/>
              <a:t>penulisan</a:t>
            </a:r>
            <a:r>
              <a:rPr lang="en-ID" i="1" dirty="0"/>
              <a:t> </a:t>
            </a:r>
            <a:r>
              <a:rPr lang="en-ID" i="1" dirty="0" err="1"/>
              <a:t>kutipan</a:t>
            </a:r>
            <a:r>
              <a:rPr lang="en-ID" i="1" dirty="0"/>
              <a:t> </a:t>
            </a:r>
            <a:r>
              <a:rPr lang="en-ID" i="1" dirty="0" err="1"/>
              <a:t>dan</a:t>
            </a:r>
            <a:r>
              <a:rPr lang="en-ID" i="1" dirty="0"/>
              <a:t> </a:t>
            </a:r>
            <a:r>
              <a:rPr lang="en-ID" i="1" dirty="0" err="1"/>
              <a:t>daftar</a:t>
            </a:r>
            <a:r>
              <a:rPr lang="en-ID" i="1" dirty="0"/>
              <a:t> </a:t>
            </a:r>
            <a:r>
              <a:rPr lang="en-ID" i="1" dirty="0" err="1"/>
              <a:t>pustaka</a:t>
            </a:r>
            <a:r>
              <a:rPr lang="en-ID" dirty="0"/>
              <a:t>. </a:t>
            </a:r>
            <a:r>
              <a:rPr lang="en-ID" dirty="0" err="1"/>
              <a:t>Oktober</a:t>
            </a:r>
            <a:r>
              <a:rPr lang="en-ID" dirty="0"/>
              <a:t> 19, 2018. </a:t>
            </a:r>
            <a:r>
              <a:rPr lang="en-US">
                <a:hlinkClick r:id="rId2"/>
              </a:rPr>
              <a:t>https://isbands.wordpress.com/2011/10/07/standard-penulisan-kutipan-dan-daftar-pustaka/</a:t>
            </a:r>
            <a:endParaRPr lang="en-US"/>
          </a:p>
          <a:p>
            <a:endParaRPr lang="en-US" dirty="0"/>
          </a:p>
          <a:p>
            <a:pPr marL="0" indent="0">
              <a:buNone/>
            </a:pPr>
            <a:endParaRPr lang="en-US" dirty="0" smtClean="0">
              <a:hlinkClick r:id="rId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E5FC0-1BC7-4FE8-A94F-15035432A68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228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1896</TotalTime>
  <Words>2362</Words>
  <Application>Microsoft Office PowerPoint</Application>
  <PresentationFormat>Widescreen</PresentationFormat>
  <Paragraphs>218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Calibri</vt:lpstr>
      <vt:lpstr>Century Gothic</vt:lpstr>
      <vt:lpstr>Garamond</vt:lpstr>
      <vt:lpstr>Savon</vt:lpstr>
      <vt:lpstr>Teknik sitasi</vt:lpstr>
      <vt:lpstr>Pengantar</vt:lpstr>
      <vt:lpstr>Alasan pemilihan dokumen</vt:lpstr>
      <vt:lpstr>Daftar Pustaka</vt:lpstr>
      <vt:lpstr>Tipe referensi sebagai acuan</vt:lpstr>
      <vt:lpstr>IEEE</vt:lpstr>
      <vt:lpstr>Tata penulisan kutipan</vt:lpstr>
      <vt:lpstr>Penulisan dalam referensi (Buku)</vt:lpstr>
      <vt:lpstr>Penulisan dalam referensi (Buku) Cont’d</vt:lpstr>
      <vt:lpstr>Penulisan dalam referensi (Jurnal)</vt:lpstr>
      <vt:lpstr>Penulisan dalam referensi (Proceeding/seminar/workshop)</vt:lpstr>
      <vt:lpstr>Penulisan dalam referensi (Dokumen elektronik/internet)</vt:lpstr>
      <vt:lpstr>APA style</vt:lpstr>
      <vt:lpstr>Tata penulisan kutipan </vt:lpstr>
      <vt:lpstr>Tata penulisan kutipan (Cont’d)</vt:lpstr>
      <vt:lpstr>Tata penulisan kutipan (Cont’d)</vt:lpstr>
      <vt:lpstr>Tata penulisan kutipan (Cont’d)</vt:lpstr>
      <vt:lpstr>Penulisan dalam referensi (Buku)</vt:lpstr>
      <vt:lpstr>Penulisan dalam referensi (Buku) Cont’d</vt:lpstr>
      <vt:lpstr>Penulisan dalam referensi (Serial)</vt:lpstr>
      <vt:lpstr>Penulisan dalam referensi (Wawancara dan email)</vt:lpstr>
      <vt:lpstr>Penulisan dalam referensi (Publikasi elektronik)</vt:lpstr>
      <vt:lpstr>PowerPoint Presentation</vt:lpstr>
      <vt:lpstr>Sumber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Yekti Wirani</dc:creator>
  <cp:lastModifiedBy>yekti</cp:lastModifiedBy>
  <cp:revision>124</cp:revision>
  <dcterms:created xsi:type="dcterms:W3CDTF">2018-09-09T13:45:43Z</dcterms:created>
  <dcterms:modified xsi:type="dcterms:W3CDTF">2018-10-19T08:10:38Z</dcterms:modified>
</cp:coreProperties>
</file>